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1103" r:id="rId2"/>
    <p:sldId id="2360" r:id="rId3"/>
    <p:sldId id="2487" r:id="rId4"/>
    <p:sldId id="2476" r:id="rId5"/>
    <p:sldId id="2361" r:id="rId6"/>
    <p:sldId id="2608" r:id="rId7"/>
    <p:sldId id="2609" r:id="rId8"/>
    <p:sldId id="2463" r:id="rId9"/>
    <p:sldId id="2378" r:id="rId10"/>
  </p:sldIdLst>
  <p:sldSz cx="9144000" cy="6858000" type="screen4x3"/>
  <p:notesSz cx="6797675" cy="9926638"/>
  <p:embeddedFontLst>
    <p:embeddedFont>
      <p:font typeface="굴림" panose="020B0600000101010101" pitchFamily="34" charset="-127"/>
      <p:regular r:id="rId13"/>
    </p:embeddedFont>
    <p:embeddedFont>
      <p:font typeface="맑은 고딕" panose="020B0503020000020004" pitchFamily="34" charset="-127"/>
      <p:regular r:id="rId14"/>
      <p:bold r:id="rId15"/>
    </p:embeddedFont>
    <p:embeddedFont>
      <p:font typeface="Pretendard" panose="02000503000000020004" pitchFamily="2" charset="-127"/>
      <p:regular r:id="rId16"/>
      <p:bold r:id="rId17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orient="horz" pos="3249">
          <p15:clr>
            <a:srgbClr val="A4A3A4"/>
          </p15:clr>
        </p15:guide>
        <p15:guide id="3" orient="horz" pos="3807">
          <p15:clr>
            <a:srgbClr val="A4A3A4"/>
          </p15:clr>
        </p15:guide>
        <p15:guide id="4" orient="horz" pos="777">
          <p15:clr>
            <a:srgbClr val="A4A3A4"/>
          </p15:clr>
        </p15:guide>
        <p15:guide id="5" orient="horz" pos="2160">
          <p15:clr>
            <a:srgbClr val="A4A3A4"/>
          </p15:clr>
        </p15:guide>
        <p15:guide id="6" pos="5759">
          <p15:clr>
            <a:srgbClr val="A4A3A4"/>
          </p15:clr>
        </p15:guide>
        <p15:guide id="7" pos="5465">
          <p15:clr>
            <a:srgbClr val="A4A3A4"/>
          </p15:clr>
        </p15:guide>
        <p15:guide id="8" pos="295">
          <p15:clr>
            <a:srgbClr val="A4A3A4"/>
          </p15:clr>
        </p15:guide>
        <p15:guide id="9" pos="2018">
          <p15:clr>
            <a:srgbClr val="A4A3A4"/>
          </p15:clr>
        </p15:guide>
        <p15:guide id="10" pos="37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CE2"/>
    <a:srgbClr val="FFFFE5"/>
    <a:srgbClr val="215968"/>
    <a:srgbClr val="0099FF"/>
    <a:srgbClr val="FFFFCC"/>
    <a:srgbClr val="FFFF66"/>
    <a:srgbClr val="00326B"/>
    <a:srgbClr val="004B9E"/>
    <a:srgbClr val="808080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19" autoAdjust="0"/>
    <p:restoredTop sz="96170" autoAdjust="0"/>
  </p:normalViewPr>
  <p:slideViewPr>
    <p:cSldViewPr>
      <p:cViewPr varScale="1">
        <p:scale>
          <a:sx n="104" d="100"/>
          <a:sy n="104" d="100"/>
        </p:scale>
        <p:origin x="416" y="496"/>
      </p:cViewPr>
      <p:guideLst>
        <p:guide orient="horz"/>
        <p:guide orient="horz" pos="3249"/>
        <p:guide orient="horz" pos="3807"/>
        <p:guide orient="horz" pos="777"/>
        <p:guide orient="horz" pos="2160"/>
        <p:guide pos="5759"/>
        <p:guide pos="5465"/>
        <p:guide pos="295"/>
        <p:guide pos="2018"/>
        <p:guide pos="3765"/>
      </p:guideLst>
    </p:cSldViewPr>
  </p:slideViewPr>
  <p:outlineViewPr>
    <p:cViewPr>
      <p:scale>
        <a:sx n="33" d="100"/>
        <a:sy n="33" d="100"/>
      </p:scale>
      <p:origin x="0" y="1450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-8246"/>
    </p:cViewPr>
  </p:sorterViewPr>
  <p:notesViewPr>
    <p:cSldViewPr>
      <p:cViewPr varScale="1">
        <p:scale>
          <a:sx n="51" d="100"/>
          <a:sy n="51" d="100"/>
        </p:scale>
        <p:origin x="-1992" y="-90"/>
      </p:cViewPr>
      <p:guideLst>
        <p:guide orient="horz" pos="3127"/>
        <p:guide pos="2141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447" y="1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07ACCAD-F4F4-4FF3-95D7-D0B7577B541A}" type="datetimeFigureOut">
              <a:rPr lang="ko-KR" altLang="en-US"/>
              <a:pPr>
                <a:defRPr/>
              </a:pPr>
              <a:t>2025. 8. 16.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428584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447" y="9428584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96F41D1-6E6B-4242-AE40-083C67850DB6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983736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7" y="1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6F386B0-E796-493E-9486-116C1056CC23}" type="datetimeFigureOut">
              <a:rPr lang="ko-KR" altLang="en-US"/>
              <a:pPr>
                <a:defRPr/>
              </a:pPr>
              <a:t>2025. 8. 16.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709" tIns="45855" rIns="91709" bIns="45855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709" tIns="45855" rIns="91709" bIns="45855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428584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7" y="9428584"/>
            <a:ext cx="2945659" cy="496332"/>
          </a:xfrm>
          <a:prstGeom prst="rect">
            <a:avLst/>
          </a:prstGeom>
        </p:spPr>
        <p:txBody>
          <a:bodyPr vert="horz" lIns="91709" tIns="45855" rIns="91709" bIns="4585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6DD8EC9-51E1-4847-9D6D-FA617BA0827F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54541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7494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4853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46345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16765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87079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9605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671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6DD8EC9-51E1-4847-9D6D-FA617BA0827F}" type="slidenum">
              <a:rPr lang="ko-KR" altLang="en-US" smtClean="0"/>
              <a:pPr>
                <a:defRPr/>
              </a:pPr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0083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C:\Users\jh429.baek\Desktop\표지70.jp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620" y="-8774"/>
            <a:ext cx="9151620" cy="688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1601670" y="6153619"/>
            <a:ext cx="5592237" cy="59849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本 자료의 모든 저작권은 삼성생명에 있으며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삼성생명의 동의 없이 어떠한 경우에도 복제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배포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전송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변형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대여 할 수 없습니다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本 자료는 제한된 정보와 多數의 假定을 바탕으로 보편적이고 일반적인 기준에 의해서 작성된 바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 </a:t>
            </a: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個個의 사안에 따라 실제와는 차이가 있거나  다를 수 있습니다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 </a:t>
            </a:r>
            <a:r>
              <a:rPr kumimoji="0" lang="ko-KR" altLang="en-US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따라서 本 자료는 참고 수준으로만 활용하시기 바라며 보다 구체적인 내용이 요구되거나 實行을 수반하는 경우에는 반드시  해당분야의 전문가로부터 자문을 구하시기 바랍니다</a:t>
            </a:r>
            <a:r>
              <a:rPr kumimoji="0" lang="en-US" altLang="ko-KR" sz="700" spc="-2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pic>
        <p:nvPicPr>
          <p:cNvPr id="13" name="그림 12"/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304" y="6091571"/>
            <a:ext cx="1490292" cy="541608"/>
          </a:xfrm>
          <a:prstGeom prst="rect">
            <a:avLst/>
          </a:prstGeom>
        </p:spPr>
      </p:pic>
      <p:sp>
        <p:nvSpPr>
          <p:cNvPr id="6" name="직사각형 5"/>
          <p:cNvSpPr/>
          <p:nvPr userDrawn="1"/>
        </p:nvSpPr>
        <p:spPr>
          <a:xfrm>
            <a:off x="7947375" y="42198"/>
            <a:ext cx="1125125" cy="182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Confidential</a:t>
            </a:r>
            <a:endParaRPr lang="ko-KR" altLang="en-US" sz="1200" dirty="0">
              <a:solidFill>
                <a:schemeClr val="tx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6983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jh429.baek\Desktop\표지70.jp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0" y="0"/>
            <a:ext cx="9144000" cy="687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 userDrawn="1"/>
        </p:nvSpPr>
        <p:spPr>
          <a:xfrm>
            <a:off x="7992380" y="42197"/>
            <a:ext cx="1080120" cy="2364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Confidential</a:t>
            </a:r>
            <a:endParaRPr lang="ko-KR" altLang="en-US" sz="1200" dirty="0">
              <a:solidFill>
                <a:schemeClr val="tx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5254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jh429.baek\Desktop\5A0A8842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" t="2486" r="36188"/>
          <a:stretch/>
        </p:blipFill>
        <p:spPr bwMode="auto">
          <a:xfrm>
            <a:off x="2412591" y="-3630"/>
            <a:ext cx="6731411" cy="645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15"/>
          <p:cNvSpPr/>
          <p:nvPr userDrawn="1"/>
        </p:nvSpPr>
        <p:spPr>
          <a:xfrm>
            <a:off x="1" y="3412"/>
            <a:ext cx="9135104" cy="6854588"/>
          </a:xfrm>
          <a:prstGeom prst="rect">
            <a:avLst/>
          </a:prstGeom>
          <a:gradFill>
            <a:gsLst>
              <a:gs pos="0">
                <a:schemeClr val="accent1">
                  <a:alpha val="15000"/>
                  <a:lumMod val="0"/>
                </a:schemeClr>
              </a:gs>
              <a:gs pos="0">
                <a:schemeClr val="accent1">
                  <a:alpha val="30000"/>
                  <a:lumMod val="5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Freeform 8"/>
          <p:cNvSpPr/>
          <p:nvPr userDrawn="1"/>
        </p:nvSpPr>
        <p:spPr>
          <a:xfrm rot="19800000">
            <a:off x="5493273" y="-664960"/>
            <a:ext cx="570044" cy="7781700"/>
          </a:xfrm>
          <a:custGeom>
            <a:avLst/>
            <a:gdLst>
              <a:gd name="connsiteX0" fmla="*/ 717343 w 717343"/>
              <a:gd name="connsiteY0" fmla="*/ 414158 h 8335672"/>
              <a:gd name="connsiteX1" fmla="*/ 717343 w 717343"/>
              <a:gd name="connsiteY1" fmla="*/ 8335672 h 8335672"/>
              <a:gd name="connsiteX2" fmla="*/ 0 w 717343"/>
              <a:gd name="connsiteY2" fmla="*/ 7921513 h 8335672"/>
              <a:gd name="connsiteX3" fmla="*/ 0 w 717343"/>
              <a:gd name="connsiteY3" fmla="*/ 0 h 8335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343" h="8335672">
                <a:moveTo>
                  <a:pt x="717343" y="414158"/>
                </a:moveTo>
                <a:lnTo>
                  <a:pt x="717343" y="8335672"/>
                </a:lnTo>
                <a:lnTo>
                  <a:pt x="0" y="792151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95000">
                <a:schemeClr val="tx2">
                  <a:lumMod val="50000"/>
                </a:schemeClr>
              </a:gs>
              <a:gs pos="0">
                <a:srgbClr val="17181A">
                  <a:alpha val="0"/>
                </a:srgbClr>
              </a:gs>
              <a:gs pos="100000">
                <a:srgbClr val="17181A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350" dirty="0"/>
          </a:p>
        </p:txBody>
      </p:sp>
      <p:sp>
        <p:nvSpPr>
          <p:cNvPr id="12" name="Freeform 27"/>
          <p:cNvSpPr/>
          <p:nvPr userDrawn="1"/>
        </p:nvSpPr>
        <p:spPr>
          <a:xfrm>
            <a:off x="1" y="-3629"/>
            <a:ext cx="7855568" cy="6459038"/>
          </a:xfrm>
          <a:custGeom>
            <a:avLst/>
            <a:gdLst>
              <a:gd name="connsiteX0" fmla="*/ 0 w 10318750"/>
              <a:gd name="connsiteY0" fmla="*/ 0 h 6857999"/>
              <a:gd name="connsiteX1" fmla="*/ 4997450 w 10318750"/>
              <a:gd name="connsiteY1" fmla="*/ 0 h 6857999"/>
              <a:gd name="connsiteX2" fmla="*/ 10318750 w 10318750"/>
              <a:gd name="connsiteY2" fmla="*/ 6857999 h 6857999"/>
              <a:gd name="connsiteX3" fmla="*/ 4997450 w 10318750"/>
              <a:gd name="connsiteY3" fmla="*/ 6857999 h 6857999"/>
              <a:gd name="connsiteX4" fmla="*/ 0 w 10318750"/>
              <a:gd name="connsiteY4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18750" h="6857999">
                <a:moveTo>
                  <a:pt x="0" y="0"/>
                </a:moveTo>
                <a:lnTo>
                  <a:pt x="4997450" y="0"/>
                </a:lnTo>
                <a:lnTo>
                  <a:pt x="10318750" y="6857999"/>
                </a:lnTo>
                <a:lnTo>
                  <a:pt x="4997450" y="6857999"/>
                </a:lnTo>
                <a:lnTo>
                  <a:pt x="0" y="6857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7970557" y="42197"/>
            <a:ext cx="1101943" cy="2814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Confidential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908655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5"/>
          <p:cNvSpPr/>
          <p:nvPr userDrawn="1"/>
        </p:nvSpPr>
        <p:spPr>
          <a:xfrm>
            <a:off x="0" y="6489340"/>
            <a:ext cx="9143999" cy="36866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7000"/>
                  <a:lumOff val="13000"/>
                  <a:alpha val="35000"/>
                </a:schemeClr>
              </a:gs>
              <a:gs pos="0">
                <a:schemeClr val="accent1">
                  <a:alpha val="30000"/>
                  <a:lumMod val="55000"/>
                </a:schemeClr>
              </a:gs>
            </a:gsLst>
            <a:path path="rect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직사각형 4"/>
          <p:cNvSpPr/>
          <p:nvPr userDrawn="1"/>
        </p:nvSpPr>
        <p:spPr>
          <a:xfrm>
            <a:off x="0" y="1"/>
            <a:ext cx="9144000" cy="728698"/>
          </a:xfrm>
          <a:prstGeom prst="rect">
            <a:avLst/>
          </a:prstGeom>
          <a:solidFill>
            <a:srgbClr val="003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평행 사변형 5"/>
          <p:cNvSpPr/>
          <p:nvPr userDrawn="1"/>
        </p:nvSpPr>
        <p:spPr>
          <a:xfrm rot="10800000">
            <a:off x="142190" y="-3"/>
            <a:ext cx="578985" cy="991991"/>
          </a:xfrm>
          <a:prstGeom prst="parallelogram">
            <a:avLst>
              <a:gd name="adj" fmla="val 5004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/>
          <p:cNvSpPr/>
          <p:nvPr userDrawn="1"/>
        </p:nvSpPr>
        <p:spPr>
          <a:xfrm>
            <a:off x="0" y="0"/>
            <a:ext cx="431540" cy="9671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평행 사변형 7"/>
          <p:cNvSpPr/>
          <p:nvPr userDrawn="1"/>
        </p:nvSpPr>
        <p:spPr>
          <a:xfrm rot="10800000">
            <a:off x="71500" y="-3"/>
            <a:ext cx="578985" cy="991991"/>
          </a:xfrm>
          <a:prstGeom prst="parallelogram">
            <a:avLst>
              <a:gd name="adj" fmla="val 5004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9" name="Picture 2" descr="C:\Users\jh429.baek\Desktop\봉투(vip)_40%.png"/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18" t="28545" r="21553" b="47130"/>
          <a:stretch/>
        </p:blipFill>
        <p:spPr bwMode="auto">
          <a:xfrm flipH="1">
            <a:off x="-1" y="-3154"/>
            <a:ext cx="566554" cy="73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 userDrawn="1"/>
        </p:nvSpPr>
        <p:spPr>
          <a:xfrm>
            <a:off x="7947375" y="42197"/>
            <a:ext cx="1125125" cy="2814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Confidential</a:t>
            </a:r>
            <a:endParaRPr lang="ko-KR" altLang="en-US" sz="12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13598" y="-3154"/>
            <a:ext cx="8430402" cy="731853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3457529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9144000" cy="6399331"/>
          </a:xfrm>
          <a:prstGeom prst="rect">
            <a:avLst/>
          </a:prstGeom>
        </p:spPr>
      </p:pic>
      <p:sp>
        <p:nvSpPr>
          <p:cNvPr id="6" name="직사각형 5"/>
          <p:cNvSpPr/>
          <p:nvPr userDrawn="1"/>
        </p:nvSpPr>
        <p:spPr>
          <a:xfrm>
            <a:off x="0" y="6399330"/>
            <a:ext cx="9144000" cy="458670"/>
          </a:xfrm>
          <a:prstGeom prst="rect">
            <a:avLst/>
          </a:prstGeom>
          <a:solidFill>
            <a:srgbClr val="00326B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직사각형 7"/>
          <p:cNvSpPr/>
          <p:nvPr userDrawn="1"/>
        </p:nvSpPr>
        <p:spPr>
          <a:xfrm>
            <a:off x="7992380" y="42197"/>
            <a:ext cx="1080120" cy="2930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Confidential</a:t>
            </a:r>
            <a:endParaRPr lang="ko-KR" altLang="en-US" sz="12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15565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3"/>
          <p:cNvSpPr txBox="1">
            <a:spLocks/>
          </p:cNvSpPr>
          <p:nvPr userDrawn="1"/>
        </p:nvSpPr>
        <p:spPr>
          <a:xfrm>
            <a:off x="7008777" y="6595763"/>
            <a:ext cx="2057400" cy="27511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900" kern="1200">
                <a:solidFill>
                  <a:schemeClr val="tx1"/>
                </a:solidFill>
                <a:latin typeface="SLI 파트너 M" panose="02020603020101020101" pitchFamily="18" charset="-127"/>
                <a:ea typeface="SLI 파트너 M" panose="02020603020101020101" pitchFamily="18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kumimoji="0"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삼성생명 기업컨설팅센터  </a:t>
            </a:r>
            <a:fld id="{45E4F50E-807B-4D45-8FDB-3889098A9BF8}" type="slidenum">
              <a:rPr kumimoji="0" lang="ko-KR" altLang="en-US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/>
              <a:t>‹#›</a:t>
            </a:fld>
            <a:r>
              <a:rPr kumimoji="0"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kumimoji="0"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70</a:t>
            </a:r>
            <a:endParaRPr kumimoji="0" lang="ko-KR" altLang="en-US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41" r:id="rId1"/>
    <p:sldLayoutId id="2147483936" r:id="rId2"/>
    <p:sldLayoutId id="2147483956" r:id="rId3"/>
    <p:sldLayoutId id="2147483957" r:id="rId4"/>
    <p:sldLayoutId id="2147483953" r:id="rId5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2600" kern="1200" spc="-70">
          <a:gradFill>
            <a:gsLst>
              <a:gs pos="0">
                <a:srgbClr val="1041A4"/>
              </a:gs>
              <a:gs pos="100000">
                <a:srgbClr val="1041A4"/>
              </a:gs>
            </a:gsLst>
            <a:lin ang="5400000" scaled="0"/>
          </a:gradFill>
          <a:latin typeface="SLI 파트너 B" pitchFamily="18" charset="-127"/>
          <a:ea typeface="SLI 파트너 B" pitchFamily="18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SLI 파트너 B" pitchFamily="18" charset="-127"/>
          <a:ea typeface="SLI 파트너 B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>
            <a:off x="4136492" y="4284095"/>
            <a:ext cx="2865777" cy="675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>
                <a:ln w="3175">
                  <a:solidFill>
                    <a:srgbClr val="808080">
                      <a:alpha val="1500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LI 파트너 B" pitchFamily="18" charset="-127"/>
                <a:ea typeface="SLI 파트너 B" pitchFamily="18" charset="-127"/>
              </a:rPr>
              <a:t>        2025. 8.   </a:t>
            </a:r>
          </a:p>
          <a:p>
            <a:pPr fontAlgn="auto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ln w="3175">
                  <a:solidFill>
                    <a:srgbClr val="808080">
                      <a:alpha val="1500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SLI 파트너 B" pitchFamily="18" charset="-127"/>
                <a:ea typeface="SLI 파트너 B" pitchFamily="18" charset="-127"/>
              </a:rPr>
              <a:t>삼성생명 프로젝트팀</a:t>
            </a:r>
            <a:endParaRPr kumimoji="0" lang="en-US" altLang="ko-KR" dirty="0">
              <a:ln w="3175">
                <a:solidFill>
                  <a:srgbClr val="808080">
                    <a:alpha val="1500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SLI 파트너 B" pitchFamily="18" charset="-127"/>
              <a:ea typeface="SLI 파트너 B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41631" y="2483895"/>
            <a:ext cx="7902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ko-KR" altLang="en-US" sz="3600" spc="-150" dirty="0">
                <a:ln>
                  <a:solidFill>
                    <a:srgbClr val="00326B">
                      <a:alpha val="1000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HYGothic-Extra" panose="02030600000101010101" pitchFamily="18" charset="-127"/>
                <a:ea typeface="HYGothic-Extra" panose="02030600000101010101" pitchFamily="18" charset="-127"/>
              </a:rPr>
              <a:t>중고차거래업</a:t>
            </a:r>
            <a:endParaRPr lang="en-US" altLang="ko-KR" sz="3600" spc="-150" dirty="0">
              <a:ln>
                <a:solidFill>
                  <a:srgbClr val="00326B">
                    <a:alpha val="1000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HYGothic-Extra" panose="02030600000101010101" pitchFamily="18" charset="-127"/>
              <a:ea typeface="HYGothic-Extra" panose="02030600000101010101" pitchFamily="18" charset="-127"/>
            </a:endParaRPr>
          </a:p>
          <a:p>
            <a:pPr algn="ctr">
              <a:defRPr/>
            </a:pPr>
            <a:r>
              <a:rPr lang="ko-KR" altLang="en-US" sz="3600" spc="-150" dirty="0">
                <a:ln>
                  <a:solidFill>
                    <a:srgbClr val="00326B">
                      <a:alpha val="1000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HYGothic-Extra" panose="02030600000101010101" pitchFamily="18" charset="-127"/>
                <a:ea typeface="HYGothic-Extra" panose="02030600000101010101" pitchFamily="18" charset="-127"/>
              </a:rPr>
              <a:t>자금조달 혁신 방안</a:t>
            </a:r>
            <a:endParaRPr lang="en-US" altLang="ko-KR" sz="3600" spc="-150" dirty="0">
              <a:ln>
                <a:solidFill>
                  <a:srgbClr val="00326B">
                    <a:alpha val="1000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HYGothic-Extra" panose="02030600000101010101" pitchFamily="18" charset="-127"/>
              <a:ea typeface="HYGothic-Extra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9332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 txBox="1">
            <a:spLocks/>
          </p:cNvSpPr>
          <p:nvPr/>
        </p:nvSpPr>
        <p:spPr>
          <a:xfrm>
            <a:off x="650771" y="1268760"/>
            <a:ext cx="3111139" cy="809625"/>
          </a:xfrm>
          <a:prstGeom prst="rect">
            <a:avLst/>
          </a:prstGeom>
        </p:spPr>
        <p:txBody>
          <a:bodyPr/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 kern="1200" spc="-70">
                <a:gradFill>
                  <a:gsLst>
                    <a:gs pos="0">
                      <a:srgbClr val="1041A4"/>
                    </a:gs>
                    <a:gs pos="100000">
                      <a:srgbClr val="1041A4"/>
                    </a:gs>
                  </a:gsLst>
                  <a:lin ang="5400000" scaled="0"/>
                </a:gradFill>
                <a:latin typeface="SLI 파트너 B" pitchFamily="18" charset="-127"/>
                <a:ea typeface="SLI 파트너 B" pitchFamily="18" charset="-127"/>
                <a:cs typeface="+mj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9pPr>
          </a:lstStyle>
          <a:p>
            <a:r>
              <a:rPr kumimoji="0" lang="ko-KR" altLang="en-US" sz="5500" dirty="0">
                <a:ln>
                  <a:solidFill>
                    <a:srgbClr val="00326B">
                      <a:alpha val="15000"/>
                    </a:srgbClr>
                  </a:solidFill>
                </a:ln>
                <a:solidFill>
                  <a:srgbClr val="00326B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목 차</a:t>
            </a:r>
            <a:endParaRPr kumimoji="0" lang="en-US" sz="5500" dirty="0">
              <a:ln>
                <a:solidFill>
                  <a:srgbClr val="00326B">
                    <a:alpha val="15000"/>
                  </a:srgbClr>
                </a:solidFill>
              </a:ln>
              <a:solidFill>
                <a:srgbClr val="00326B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grpSp>
        <p:nvGrpSpPr>
          <p:cNvPr id="45" name="그룹 34"/>
          <p:cNvGrpSpPr>
            <a:grpSpLocks/>
          </p:cNvGrpSpPr>
          <p:nvPr/>
        </p:nvGrpSpPr>
        <p:grpSpPr bwMode="auto">
          <a:xfrm>
            <a:off x="656566" y="3826389"/>
            <a:ext cx="6075674" cy="523221"/>
            <a:chOff x="1072945" y="2767085"/>
            <a:chExt cx="6075519" cy="523559"/>
          </a:xfrm>
          <a:noFill/>
        </p:grpSpPr>
        <p:sp>
          <p:nvSpPr>
            <p:cNvPr id="46" name="TextBox 45"/>
            <p:cNvSpPr txBox="1"/>
            <p:nvPr/>
          </p:nvSpPr>
          <p:spPr>
            <a:xfrm>
              <a:off x="1072945" y="2767086"/>
              <a:ext cx="645788" cy="523558"/>
            </a:xfrm>
            <a:prstGeom prst="rect">
              <a:avLst/>
            </a:prstGeom>
            <a:grpFill/>
          </p:spPr>
          <p:txBody>
            <a:bodyPr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2800" spc="-160" dirty="0">
                  <a:ln w="3175">
                    <a:solidFill>
                      <a:schemeClr val="accent1">
                        <a:alpha val="15000"/>
                      </a:schemeClr>
                    </a:solidFill>
                  </a:ln>
                  <a:solidFill>
                    <a:srgbClr val="969696"/>
                  </a:solidFill>
                  <a:latin typeface="HY견고딕" panose="02030600000101010101" pitchFamily="18" charset="-127"/>
                  <a:ea typeface="HY견고딕" panose="02030600000101010101" pitchFamily="18" charset="-127"/>
                </a:rPr>
                <a:t>02.</a:t>
              </a:r>
              <a:endParaRPr kumimoji="0" lang="ko-KR" altLang="en-US" sz="2800" spc="-16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rgbClr val="969696"/>
                </a:solidFill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583668" y="2767085"/>
              <a:ext cx="5564796" cy="523558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ko-KR" altLang="en-US" sz="2800" spc="-50" dirty="0">
                  <a:ln>
                    <a:solidFill>
                      <a:srgbClr val="808080">
                        <a:alpha val="1500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HY견고딕" panose="02030600000101010101" pitchFamily="18" charset="-127"/>
                  <a:ea typeface="HY견고딕" panose="02030600000101010101" pitchFamily="18" charset="-127"/>
                </a:rPr>
                <a:t>  혁신적 대안</a:t>
              </a:r>
            </a:p>
          </p:txBody>
        </p:sp>
      </p:grpSp>
      <p:grpSp>
        <p:nvGrpSpPr>
          <p:cNvPr id="13" name="그룹 34"/>
          <p:cNvGrpSpPr>
            <a:grpSpLocks/>
          </p:cNvGrpSpPr>
          <p:nvPr/>
        </p:nvGrpSpPr>
        <p:grpSpPr bwMode="auto">
          <a:xfrm>
            <a:off x="656565" y="4705979"/>
            <a:ext cx="6075674" cy="523221"/>
            <a:chOff x="1072945" y="2767085"/>
            <a:chExt cx="6075519" cy="523559"/>
          </a:xfrm>
          <a:noFill/>
        </p:grpSpPr>
        <p:sp>
          <p:nvSpPr>
            <p:cNvPr id="14" name="TextBox 13"/>
            <p:cNvSpPr txBox="1"/>
            <p:nvPr/>
          </p:nvSpPr>
          <p:spPr>
            <a:xfrm>
              <a:off x="1072945" y="2767086"/>
              <a:ext cx="645788" cy="523558"/>
            </a:xfrm>
            <a:prstGeom prst="rect">
              <a:avLst/>
            </a:prstGeom>
            <a:grpFill/>
          </p:spPr>
          <p:txBody>
            <a:bodyPr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2800" spc="-160" dirty="0">
                  <a:ln w="3175">
                    <a:solidFill>
                      <a:schemeClr val="accent1">
                        <a:alpha val="15000"/>
                      </a:schemeClr>
                    </a:solidFill>
                  </a:ln>
                  <a:solidFill>
                    <a:srgbClr val="969696"/>
                  </a:solidFill>
                  <a:latin typeface="HY견고딕" panose="02030600000101010101" pitchFamily="18" charset="-127"/>
                  <a:ea typeface="HY견고딕" panose="02030600000101010101" pitchFamily="18" charset="-127"/>
                </a:rPr>
                <a:t>03.</a:t>
              </a:r>
              <a:endParaRPr kumimoji="0" lang="ko-KR" altLang="en-US" sz="2800" spc="-16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rgbClr val="969696"/>
                </a:solidFill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583668" y="2767085"/>
              <a:ext cx="5564796" cy="523558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ko-KR" altLang="en-US" sz="2800" spc="-50" dirty="0">
                  <a:ln>
                    <a:solidFill>
                      <a:srgbClr val="808080">
                        <a:alpha val="1500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HY견고딕" panose="02030600000101010101" pitchFamily="18" charset="-127"/>
                  <a:ea typeface="HY견고딕" panose="02030600000101010101" pitchFamily="18" charset="-127"/>
                </a:rPr>
                <a:t>  확실한 근거</a:t>
              </a:r>
            </a:p>
          </p:txBody>
        </p:sp>
      </p:grpSp>
      <p:grpSp>
        <p:nvGrpSpPr>
          <p:cNvPr id="5" name="그룹 34">
            <a:extLst>
              <a:ext uri="{FF2B5EF4-FFF2-40B4-BE49-F238E27FC236}">
                <a16:creationId xmlns:a16="http://schemas.microsoft.com/office/drawing/2014/main" id="{0886B225-BCEC-37EF-5743-FA8E67A844A2}"/>
              </a:ext>
            </a:extLst>
          </p:cNvPr>
          <p:cNvGrpSpPr>
            <a:grpSpLocks/>
          </p:cNvGrpSpPr>
          <p:nvPr/>
        </p:nvGrpSpPr>
        <p:grpSpPr bwMode="auto">
          <a:xfrm>
            <a:off x="656566" y="3012350"/>
            <a:ext cx="6075674" cy="523221"/>
            <a:chOff x="1072945" y="2767085"/>
            <a:chExt cx="6075519" cy="523559"/>
          </a:xfrm>
          <a:noFill/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B3F6D4-E860-C205-516B-F093F10D0578}"/>
                </a:ext>
              </a:extLst>
            </p:cNvPr>
            <p:cNvSpPr txBox="1"/>
            <p:nvPr/>
          </p:nvSpPr>
          <p:spPr>
            <a:xfrm>
              <a:off x="1072945" y="2767086"/>
              <a:ext cx="645788" cy="523558"/>
            </a:xfrm>
            <a:prstGeom prst="rect">
              <a:avLst/>
            </a:prstGeom>
            <a:grpFill/>
          </p:spPr>
          <p:txBody>
            <a:bodyPr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2800" spc="-160" dirty="0">
                  <a:ln w="3175">
                    <a:solidFill>
                      <a:schemeClr val="accent1">
                        <a:alpha val="15000"/>
                      </a:schemeClr>
                    </a:solidFill>
                  </a:ln>
                  <a:solidFill>
                    <a:srgbClr val="969696"/>
                  </a:solidFill>
                  <a:latin typeface="HY견고딕" panose="02030600000101010101" pitchFamily="18" charset="-127"/>
                  <a:ea typeface="HY견고딕" panose="02030600000101010101" pitchFamily="18" charset="-127"/>
                </a:rPr>
                <a:t>01.</a:t>
              </a:r>
              <a:endParaRPr kumimoji="0" lang="ko-KR" altLang="en-US" sz="2800" spc="-16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rgbClr val="969696"/>
                </a:solidFill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5B69AF-67C5-A8B9-E321-133E42BC1911}"/>
                </a:ext>
              </a:extLst>
            </p:cNvPr>
            <p:cNvSpPr txBox="1"/>
            <p:nvPr/>
          </p:nvSpPr>
          <p:spPr>
            <a:xfrm>
              <a:off x="1583668" y="2767085"/>
              <a:ext cx="5564796" cy="523558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ko-KR" altLang="en-US" sz="2800" b="1" spc="-50" dirty="0">
                  <a:ln>
                    <a:solidFill>
                      <a:srgbClr val="808080">
                        <a:alpha val="1500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HYGothic-Extra" panose="02030600000101010101" pitchFamily="18" charset="-127"/>
                  <a:ea typeface="HYGothic-Extra" panose="02030600000101010101" pitchFamily="18" charset="-127"/>
                  <a:cs typeface="Noto Sans ExtBd" panose="020B0502040504020204" pitchFamily="34" charset="0"/>
                </a:rPr>
                <a:t>  충격적인 현실</a:t>
              </a:r>
            </a:p>
          </p:txBody>
        </p:sp>
      </p:grpSp>
      <p:grpSp>
        <p:nvGrpSpPr>
          <p:cNvPr id="3" name="그룹 34">
            <a:extLst>
              <a:ext uri="{FF2B5EF4-FFF2-40B4-BE49-F238E27FC236}">
                <a16:creationId xmlns:a16="http://schemas.microsoft.com/office/drawing/2014/main" id="{6290827B-0CA9-B383-A77E-2BD6A57BA835}"/>
              </a:ext>
            </a:extLst>
          </p:cNvPr>
          <p:cNvGrpSpPr>
            <a:grpSpLocks/>
          </p:cNvGrpSpPr>
          <p:nvPr/>
        </p:nvGrpSpPr>
        <p:grpSpPr bwMode="auto">
          <a:xfrm>
            <a:off x="656565" y="5459741"/>
            <a:ext cx="6075674" cy="523221"/>
            <a:chOff x="1072945" y="2767085"/>
            <a:chExt cx="6075519" cy="523559"/>
          </a:xfrm>
          <a:noFill/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6E0596-5138-9B32-2BAE-ECDF6819971F}"/>
                </a:ext>
              </a:extLst>
            </p:cNvPr>
            <p:cNvSpPr txBox="1"/>
            <p:nvPr/>
          </p:nvSpPr>
          <p:spPr>
            <a:xfrm>
              <a:off x="1072945" y="2767086"/>
              <a:ext cx="645788" cy="523558"/>
            </a:xfrm>
            <a:prstGeom prst="rect">
              <a:avLst/>
            </a:prstGeom>
            <a:grpFill/>
          </p:spPr>
          <p:txBody>
            <a:bodyPr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2800" spc="-160" dirty="0">
                  <a:ln w="3175">
                    <a:solidFill>
                      <a:schemeClr val="accent1">
                        <a:alpha val="15000"/>
                      </a:schemeClr>
                    </a:solidFill>
                  </a:ln>
                  <a:solidFill>
                    <a:srgbClr val="969696"/>
                  </a:solidFill>
                  <a:latin typeface="HY견고딕" panose="02030600000101010101" pitchFamily="18" charset="-127"/>
                  <a:ea typeface="HY견고딕" panose="02030600000101010101" pitchFamily="18" charset="-127"/>
                </a:rPr>
                <a:t>04.</a:t>
              </a:r>
              <a:endParaRPr kumimoji="0" lang="ko-KR" altLang="en-US" sz="2800" spc="-160" dirty="0">
                <a:ln w="3175">
                  <a:solidFill>
                    <a:schemeClr val="accent1">
                      <a:alpha val="15000"/>
                    </a:schemeClr>
                  </a:solidFill>
                </a:ln>
                <a:solidFill>
                  <a:srgbClr val="969696"/>
                </a:solidFill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9BFDDFB-BAEE-DA94-7A82-CD89E3C6520C}"/>
                </a:ext>
              </a:extLst>
            </p:cNvPr>
            <p:cNvSpPr txBox="1"/>
            <p:nvPr/>
          </p:nvSpPr>
          <p:spPr>
            <a:xfrm>
              <a:off x="1583668" y="2767085"/>
              <a:ext cx="5564796" cy="523558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ko-KR" altLang="en-US" sz="2800" spc="-50" dirty="0">
                  <a:ln>
                    <a:solidFill>
                      <a:srgbClr val="808080">
                        <a:alpha val="1500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HY견고딕" panose="02030600000101010101" pitchFamily="18" charset="-127"/>
                  <a:ea typeface="HY견고딕" panose="02030600000101010101" pitchFamily="18" charset="-127"/>
                </a:rPr>
                <a:t>  지금 시작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6590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3789195"/>
            <a:ext cx="5797550" cy="809625"/>
          </a:xfrm>
          <a:prstGeom prst="rect">
            <a:avLst/>
          </a:prstGeom>
        </p:spPr>
        <p:txBody>
          <a:bodyPr/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 kern="1200" spc="-70">
                <a:gradFill>
                  <a:gsLst>
                    <a:gs pos="0">
                      <a:srgbClr val="1041A4"/>
                    </a:gs>
                    <a:gs pos="100000">
                      <a:srgbClr val="1041A4"/>
                    </a:gs>
                  </a:gsLst>
                  <a:lin ang="5400000" scaled="0"/>
                </a:gradFill>
                <a:latin typeface="SLI 파트너 B" pitchFamily="18" charset="-127"/>
                <a:ea typeface="SLI 파트너 B" pitchFamily="18" charset="-127"/>
                <a:cs typeface="+mj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4000" spc="0" dirty="0">
                <a:ln>
                  <a:solidFill>
                    <a:srgbClr val="808080">
                      <a:alpha val="1500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충격적인 현실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315" y="2213865"/>
            <a:ext cx="1515158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9600" b="1" dirty="0">
                <a:ln w="3175">
                  <a:solidFill>
                    <a:srgbClr val="808080">
                      <a:alpha val="15000"/>
                    </a:srgbClr>
                  </a:solidFill>
                </a:ln>
                <a:solidFill>
                  <a:srgbClr val="969696"/>
                </a:solidFill>
                <a:latin typeface="SLI 파트너 EB" panose="02020603020101020101" pitchFamily="18" charset="-127"/>
                <a:ea typeface="SLI 파트너 EB" panose="02020603020101020101" pitchFamily="18" charset="-127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22469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상속세 및 증여세 분야</a:t>
            </a:r>
          </a:p>
        </p:txBody>
      </p:sp>
      <p:sp>
        <p:nvSpPr>
          <p:cNvPr id="18" name="모서리가 둥근 직사각형 17"/>
          <p:cNvSpPr/>
          <p:nvPr/>
        </p:nvSpPr>
        <p:spPr bwMode="auto">
          <a:xfrm>
            <a:off x="439853" y="863715"/>
            <a:ext cx="8271893" cy="379068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 w="127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r>
              <a:rPr lang="ko-KR" altLang="en-US" b="1" dirty="0">
                <a:latin typeface="SLI 파트너 B" panose="02020603020101020101" pitchFamily="18" charset="-127"/>
                <a:ea typeface="SLI 파트너 B" panose="02020603020101020101" pitchFamily="18" charset="-127"/>
              </a:rPr>
              <a:t>영리법인에 유증시 상속세 납부의무자 확대</a:t>
            </a:r>
            <a:r>
              <a:rPr lang="en-US" altLang="ko-KR" b="1" dirty="0">
                <a:latin typeface="SLI 파트너 B" panose="02020603020101020101" pitchFamily="18" charset="-127"/>
                <a:ea typeface="SLI 파트너 B" panose="02020603020101020101" pitchFamily="18" charset="-127"/>
              </a:rPr>
              <a:t> </a:t>
            </a:r>
            <a:r>
              <a:rPr lang="en-US" altLang="ko-KR" sz="1400" dirty="0">
                <a:latin typeface="SLI 파트너 B" panose="02020603020101020101" pitchFamily="18" charset="-127"/>
                <a:ea typeface="SLI 파트너 B" panose="02020603020101020101" pitchFamily="18" charset="-127"/>
              </a:rPr>
              <a:t>(</a:t>
            </a:r>
            <a:r>
              <a:rPr lang="ko-KR" altLang="en-US" sz="1400" dirty="0">
                <a:latin typeface="SLI 파트너 B" panose="02020603020101020101" pitchFamily="18" charset="-127"/>
                <a:ea typeface="SLI 파트너 B" panose="02020603020101020101" pitchFamily="18" charset="-127"/>
              </a:rPr>
              <a:t>상증법 </a:t>
            </a:r>
            <a:r>
              <a:rPr lang="en-US" altLang="ko-KR" sz="1400" dirty="0">
                <a:latin typeface="SLI 파트너 B" panose="02020603020101020101" pitchFamily="18" charset="-127"/>
                <a:ea typeface="SLI 파트너 B" panose="02020603020101020101" pitchFamily="18" charset="-127"/>
              </a:rPr>
              <a:t>§3</a:t>
            </a:r>
            <a:r>
              <a:rPr lang="ko-KR" altLang="en-US" sz="1400" dirty="0">
                <a:latin typeface="SLI 파트너 B" panose="02020603020101020101" pitchFamily="18" charset="-127"/>
                <a:ea typeface="SLI 파트너 B" panose="02020603020101020101" pitchFamily="18" charset="-127"/>
              </a:rPr>
              <a:t>의</a:t>
            </a:r>
            <a:r>
              <a:rPr lang="en-US" altLang="ko-KR" sz="1400" dirty="0">
                <a:latin typeface="SLI 파트너 B" panose="02020603020101020101" pitchFamily="18" charset="-127"/>
                <a:ea typeface="SLI 파트너 B" panose="02020603020101020101" pitchFamily="18" charset="-127"/>
              </a:rPr>
              <a:t>2)</a:t>
            </a:r>
          </a:p>
        </p:txBody>
      </p:sp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489951"/>
              </p:ext>
            </p:extLst>
          </p:nvPr>
        </p:nvGraphicFramePr>
        <p:xfrm>
          <a:off x="439853" y="1358770"/>
          <a:ext cx="8271894" cy="4995555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35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5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003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6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현   행</a:t>
                      </a:r>
                    </a:p>
                  </a:txBody>
                  <a:tcPr marT="45706" marB="45706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개  정  안</a:t>
                      </a:r>
                    </a:p>
                  </a:txBody>
                  <a:tcPr marT="45706" marB="45706" anchor="ctr" horzOverflow="overflow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52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9pPr>
                    </a:lstStyle>
                    <a:p>
                      <a:pPr marL="0" lvl="0" indent="0" latinLnBrk="0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1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ko-KR" altLang="en-US" sz="1600" b="1" kern="1200" spc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"/>
                        </a:rPr>
                        <a:t>■ 영리법인이 수유자 또는 특별연고자인 경우 </a:t>
                      </a:r>
                      <a:br>
                        <a:rPr kumimoji="0" lang="en-US" altLang="ko-KR" sz="1600" b="1" kern="1200" spc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"/>
                        </a:rPr>
                      </a:br>
                      <a:r>
                        <a:rPr kumimoji="0" lang="en-US" altLang="ko-KR" sz="1600" b="1" kern="1200" spc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"/>
                        </a:rPr>
                        <a:t>    </a:t>
                      </a:r>
                      <a:r>
                        <a:rPr kumimoji="0" lang="ko-KR" altLang="en-US" sz="1600" b="1" kern="1200" spc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"/>
                        </a:rPr>
                        <a:t>상속세 납부의무자</a:t>
                      </a:r>
                      <a:endParaRPr kumimoji="0" lang="en-US" altLang="ko-KR" sz="1600" b="1" kern="1200" spc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"/>
                      </a:endParaRPr>
                    </a:p>
                    <a:p>
                      <a:pPr marL="0" lvl="0" indent="0" latinLnBrk="0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100"/>
                        </a:spcAft>
                        <a:buFont typeface="Wingdings" panose="05000000000000000000" pitchFamily="2" charset="2"/>
                        <a:buNone/>
                      </a:pPr>
                      <a:endParaRPr lang="en-US" altLang="ko-KR" sz="500" kern="120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  <a:p>
                      <a:pPr marL="263525" marR="0" lvl="0" indent="-263525" algn="l" defTabSz="914400" rtl="0" eaLnBrk="1" fontAlgn="base" latinLnBrk="1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 </a:t>
                      </a:r>
                      <a:r>
                        <a:rPr lang="ko-KR" altLang="en-US" sz="14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➊</a:t>
                      </a: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 </a:t>
                      </a:r>
                      <a:r>
                        <a:rPr lang="ko-KR" altLang="en-US" sz="1600" b="1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상속인과 그 직계비속</a:t>
                      </a:r>
                      <a:endParaRPr lang="en-US" altLang="ko-KR" sz="1600" b="1" kern="120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  <a:p>
                      <a:pPr marL="263525" marR="0" lvl="0" indent="-263525" algn="l" defTabSz="914400" rtl="0" eaLnBrk="1" fontAlgn="base" latinLnBrk="1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"/>
                        </a:rPr>
                        <a:t>  </a:t>
                      </a:r>
                      <a:r>
                        <a:rPr lang="ko-KR" altLang="en-US" sz="1600" b="1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"/>
                        </a:rPr>
                        <a:t>ㅇ</a:t>
                      </a:r>
                      <a:r>
                        <a:rPr lang="ko-KR" altLang="en-US" sz="16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"/>
                        </a:rPr>
                        <a:t>  </a:t>
                      </a:r>
                      <a:r>
                        <a:rPr lang="en-US" altLang="ko-KR" sz="1600" b="1" kern="1200" dirty="0">
                          <a:solidFill>
                            <a:srgbClr val="006CE2"/>
                          </a:solidFill>
                          <a:latin typeface="+mn-ea"/>
                          <a:ea typeface="+mn-ea"/>
                          <a:cs typeface=""/>
                        </a:rPr>
                        <a:t>〈</a:t>
                      </a:r>
                      <a:r>
                        <a:rPr lang="ko-KR" altLang="en-US" sz="1600" b="1" kern="1200" dirty="0">
                          <a:solidFill>
                            <a:srgbClr val="006CE2"/>
                          </a:solidFill>
                          <a:latin typeface="+mn-ea"/>
                          <a:ea typeface="+mn-ea"/>
                          <a:cs typeface=""/>
                        </a:rPr>
                        <a:t>추  가</a:t>
                      </a:r>
                      <a:r>
                        <a:rPr lang="en-US" altLang="ko-KR" sz="1600" b="1" kern="1200" dirty="0">
                          <a:solidFill>
                            <a:srgbClr val="006CE2"/>
                          </a:solidFill>
                          <a:latin typeface="+mn-ea"/>
                          <a:ea typeface="+mn-ea"/>
                          <a:cs typeface=""/>
                        </a:rPr>
                        <a:t>〉</a:t>
                      </a:r>
                      <a:endParaRPr lang="ko-KR" altLang="en-US" sz="1600" b="1" kern="1200" dirty="0">
                        <a:solidFill>
                          <a:srgbClr val="006CE2"/>
                        </a:solidFill>
                        <a:latin typeface="+mn-ea"/>
                        <a:ea typeface="+mn-ea"/>
                        <a:cs typeface=""/>
                      </a:endParaRPr>
                    </a:p>
                    <a:p>
                      <a:pPr marL="263525" marR="0" lvl="0" indent="-263525" algn="l" defTabSz="914400" rtl="0" eaLnBrk="1" fontAlgn="base" latinLnBrk="1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600" b="1" kern="120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  <a:p>
                      <a:pPr marL="263525" indent="-263525" fontAlgn="base" latinLnBrk="1">
                        <a:lnSpc>
                          <a:spcPct val="120000"/>
                        </a:lnSpc>
                        <a:spcBef>
                          <a:spcPts val="300"/>
                        </a:spcBef>
                      </a:pPr>
                      <a:r>
                        <a:rPr lang="en-US" altLang="ko-KR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</a:t>
                      </a:r>
                      <a:endParaRPr lang="en-US" altLang="ko-KR" sz="1600" b="1" kern="1200" spc="0" dirty="0">
                        <a:solidFill>
                          <a:srgbClr val="006CE2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</a:txBody>
                  <a:tcPr marT="45706" marB="45706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9pPr>
                    </a:lstStyle>
                    <a:p>
                      <a:pPr marL="0" indent="0" fontAlgn="base" latinLnBrk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600" b="1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■  납부의무자 추가</a:t>
                      </a:r>
                      <a:endParaRPr lang="en-US" altLang="ko-KR" sz="1600" b="1" kern="120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  <a:p>
                      <a:pPr marL="0" indent="0" fontAlgn="base" latinLnBrk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endParaRPr lang="en-US" altLang="ko-KR" sz="500" b="1" kern="1200" spc="0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  <a:p>
                      <a:pPr marL="0" indent="0" fontAlgn="base" latinLnBrk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endParaRPr lang="en-US" altLang="ko-KR" sz="500" b="1" kern="1200" spc="0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  <a:p>
                      <a:pPr marL="0" indent="0" fontAlgn="base" latinLnBrk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endParaRPr lang="en-US" altLang="ko-KR" sz="500" b="1" kern="1200" spc="0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  <a:p>
                      <a:pPr marL="0" indent="0" fontAlgn="base" latinLnBrk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</a:t>
                      </a: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</a:t>
                      </a:r>
                      <a:r>
                        <a:rPr lang="ko-KR" altLang="en-US" sz="14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➊</a:t>
                      </a: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 </a:t>
                      </a:r>
                      <a:r>
                        <a:rPr lang="en-US" altLang="ko-KR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(</a:t>
                      </a: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좌 동</a:t>
                      </a:r>
                      <a:r>
                        <a:rPr lang="en-US" altLang="ko-KR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 </a:t>
                      </a:r>
                      <a:r>
                        <a:rPr lang="ko-KR" altLang="en-US" sz="14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➋</a:t>
                      </a: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  </a:t>
                      </a:r>
                      <a:r>
                        <a:rPr lang="ko-KR" altLang="en-US" sz="14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➊</a:t>
                      </a:r>
                      <a:r>
                        <a:rPr lang="ko-KR" altLang="en-US" sz="1600" kern="120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의 </a:t>
                      </a:r>
                      <a:r>
                        <a:rPr lang="ko-KR" altLang="en-US" sz="1600" b="1" kern="1200" spc="0" dirty="0">
                          <a:solidFill>
                            <a:srgbClr val="FF0000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배우자</a:t>
                      </a:r>
                      <a:endParaRPr lang="en-US" altLang="ko-KR" sz="1600" b="1" kern="1200" spc="0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</a:txBody>
                  <a:tcPr marT="45706" marB="45706" horzOverflow="overflow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065"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Times"/>
                          <a:ea typeface=""/>
                          <a:cs typeface=""/>
                        </a:defRPr>
                      </a:lvl9pPr>
                    </a:lstStyle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&lt;</a:t>
                      </a:r>
                      <a:r>
                        <a:rPr kumimoji="0" lang="ko-KR" altLang="en-US" sz="16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개정 이유</a:t>
                      </a:r>
                      <a:r>
                        <a:rPr kumimoji="0" lang="en-US" altLang="ko-KR" sz="16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&gt;</a:t>
                      </a:r>
                      <a:r>
                        <a:rPr kumimoji="0" lang="en-US" altLang="ko-KR" sz="16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 </a:t>
                      </a:r>
                      <a:r>
                        <a:rPr kumimoji="0" lang="ko-KR" altLang="en-US" sz="16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상속세 납부의무 대상 합리화</a:t>
                      </a:r>
                      <a:endParaRPr kumimoji="0" lang="en-US" altLang="ko-KR" sz="16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&lt;</a:t>
                      </a:r>
                      <a:r>
                        <a:rPr kumimoji="0" lang="ko-KR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적용 시기</a:t>
                      </a:r>
                      <a:r>
                        <a:rPr kumimoji="0" lang="en-US" altLang="ko-KR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&gt;  ’26.1.1. </a:t>
                      </a:r>
                      <a:r>
                        <a:rPr kumimoji="0" lang="ko-KR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"/>
                        </a:rPr>
                        <a:t>이후 상속이 개시되는 분부터 적용</a:t>
                      </a:r>
                      <a:endParaRPr kumimoji="0" lang="en-US" altLang="ko-KR" sz="1600" b="1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"/>
                      </a:endParaRPr>
                    </a:p>
                  </a:txBody>
                  <a:tcPr marT="45706" marB="45706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6" name="그룹 25"/>
          <p:cNvGrpSpPr>
            <a:grpSpLocks noChangeAspect="1"/>
          </p:cNvGrpSpPr>
          <p:nvPr/>
        </p:nvGrpSpPr>
        <p:grpSpPr>
          <a:xfrm flipH="1">
            <a:off x="495945" y="1107241"/>
            <a:ext cx="185453" cy="386777"/>
            <a:chOff x="-540568" y="1225954"/>
            <a:chExt cx="288032" cy="600716"/>
          </a:xfrm>
        </p:grpSpPr>
        <p:sp>
          <p:nvSpPr>
            <p:cNvPr id="27" name="타원 26"/>
            <p:cNvSpPr>
              <a:spLocks noChangeAspect="1"/>
            </p:cNvSpPr>
            <p:nvPr/>
          </p:nvSpPr>
          <p:spPr bwMode="auto">
            <a:xfrm>
              <a:off x="-468562" y="1664670"/>
              <a:ext cx="162000" cy="162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noFill/>
              <a:prstDash val="solid"/>
            </a:ln>
            <a:effectLst>
              <a:innerShdw blurRad="190500" dist="76200" dir="13500000">
                <a:prstClr val="black">
                  <a:alpha val="87000"/>
                </a:prstClr>
              </a:innerShdw>
            </a:effectLst>
          </p:spPr>
          <p:txBody>
            <a:bodyPr anchor="ctr"/>
            <a:lstStyle/>
            <a:p>
              <a:pPr algn="ctr" latinLnBrk="0">
                <a:defRPr/>
              </a:pPr>
              <a:endParaRPr lang="ko-KR" altLang="en-US" sz="1600" kern="0" dirty="0">
                <a:solidFill>
                  <a:sysClr val="windowText" lastClr="000000"/>
                </a:solidFill>
                <a:latin typeface="SLI 파트너 B" pitchFamily="18" charset="-127"/>
                <a:ea typeface="SLI 파트너 B" pitchFamily="18" charset="-127"/>
              </a:endParaRPr>
            </a:p>
          </p:txBody>
        </p:sp>
        <p:sp>
          <p:nvSpPr>
            <p:cNvPr id="28" name="타원 27"/>
            <p:cNvSpPr>
              <a:spLocks noChangeAspect="1"/>
            </p:cNvSpPr>
            <p:nvPr/>
          </p:nvSpPr>
          <p:spPr bwMode="auto">
            <a:xfrm>
              <a:off x="-468562" y="1225954"/>
              <a:ext cx="162000" cy="162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noFill/>
              <a:prstDash val="solid"/>
            </a:ln>
            <a:effectLst>
              <a:innerShdw blurRad="190500" dist="76200" dir="13500000">
                <a:prstClr val="black">
                  <a:alpha val="87000"/>
                </a:prstClr>
              </a:innerShdw>
            </a:effectLst>
          </p:spPr>
          <p:txBody>
            <a:bodyPr anchor="ctr"/>
            <a:lstStyle/>
            <a:p>
              <a:pPr algn="ctr" latinLnBrk="0">
                <a:defRPr/>
              </a:pPr>
              <a:endParaRPr lang="ko-KR" altLang="en-US" sz="1600" kern="0" dirty="0">
                <a:solidFill>
                  <a:sysClr val="windowText" lastClr="000000"/>
                </a:solidFill>
                <a:latin typeface="SLI 파트너 B" pitchFamily="18" charset="-127"/>
                <a:ea typeface="SLI 파트너 B" pitchFamily="18" charset="-127"/>
              </a:endParaRPr>
            </a:p>
          </p:txBody>
        </p:sp>
        <p:sp>
          <p:nvSpPr>
            <p:cNvPr id="29" name="막힌 원호 28"/>
            <p:cNvSpPr/>
            <p:nvPr/>
          </p:nvSpPr>
          <p:spPr>
            <a:xfrm rot="5400000">
              <a:off x="-634734" y="1382296"/>
              <a:ext cx="476364" cy="288032"/>
            </a:xfrm>
            <a:prstGeom prst="blockArc">
              <a:avLst>
                <a:gd name="adj1" fmla="val 10742359"/>
                <a:gd name="adj2" fmla="val 339722"/>
                <a:gd name="adj3" fmla="val 18761"/>
              </a:avLst>
            </a:prstGeom>
            <a:solidFill>
              <a:srgbClr val="D9D9D9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0" name="그룹 29"/>
          <p:cNvGrpSpPr>
            <a:grpSpLocks noChangeAspect="1"/>
          </p:cNvGrpSpPr>
          <p:nvPr/>
        </p:nvGrpSpPr>
        <p:grpSpPr>
          <a:xfrm>
            <a:off x="8478554" y="1107241"/>
            <a:ext cx="185453" cy="386777"/>
            <a:chOff x="-540568" y="1225954"/>
            <a:chExt cx="288032" cy="600716"/>
          </a:xfrm>
        </p:grpSpPr>
        <p:sp>
          <p:nvSpPr>
            <p:cNvPr id="31" name="타원 30"/>
            <p:cNvSpPr>
              <a:spLocks noChangeAspect="1"/>
            </p:cNvSpPr>
            <p:nvPr/>
          </p:nvSpPr>
          <p:spPr bwMode="auto">
            <a:xfrm>
              <a:off x="-468562" y="1664670"/>
              <a:ext cx="162000" cy="162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noFill/>
              <a:prstDash val="solid"/>
            </a:ln>
            <a:effectLst>
              <a:innerShdw blurRad="190500" dist="76200" dir="13500000">
                <a:prstClr val="black">
                  <a:alpha val="87000"/>
                </a:prstClr>
              </a:innerShdw>
            </a:effectLst>
          </p:spPr>
          <p:txBody>
            <a:bodyPr anchor="ctr"/>
            <a:lstStyle/>
            <a:p>
              <a:pPr algn="ctr" latinLnBrk="0">
                <a:defRPr/>
              </a:pPr>
              <a:endParaRPr lang="ko-KR" altLang="en-US" sz="1600" kern="0" dirty="0">
                <a:solidFill>
                  <a:sysClr val="windowText" lastClr="000000"/>
                </a:solidFill>
                <a:latin typeface="SLI 파트너 B" pitchFamily="18" charset="-127"/>
                <a:ea typeface="SLI 파트너 B" pitchFamily="18" charset="-127"/>
              </a:endParaRPr>
            </a:p>
          </p:txBody>
        </p:sp>
        <p:sp>
          <p:nvSpPr>
            <p:cNvPr id="32" name="타원 31"/>
            <p:cNvSpPr>
              <a:spLocks noChangeAspect="1"/>
            </p:cNvSpPr>
            <p:nvPr/>
          </p:nvSpPr>
          <p:spPr bwMode="auto">
            <a:xfrm>
              <a:off x="-468562" y="1225954"/>
              <a:ext cx="162000" cy="162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noFill/>
              <a:prstDash val="solid"/>
            </a:ln>
            <a:effectLst>
              <a:innerShdw blurRad="190500" dist="76200" dir="13500000">
                <a:prstClr val="black">
                  <a:alpha val="87000"/>
                </a:prstClr>
              </a:innerShdw>
            </a:effectLst>
          </p:spPr>
          <p:txBody>
            <a:bodyPr anchor="ctr"/>
            <a:lstStyle/>
            <a:p>
              <a:pPr algn="ctr" latinLnBrk="0">
                <a:defRPr/>
              </a:pPr>
              <a:endParaRPr lang="ko-KR" altLang="en-US" sz="1600" kern="0" dirty="0">
                <a:solidFill>
                  <a:sysClr val="windowText" lastClr="000000"/>
                </a:solidFill>
                <a:latin typeface="SLI 파트너 B" pitchFamily="18" charset="-127"/>
                <a:ea typeface="SLI 파트너 B" pitchFamily="18" charset="-127"/>
              </a:endParaRPr>
            </a:p>
          </p:txBody>
        </p:sp>
        <p:sp>
          <p:nvSpPr>
            <p:cNvPr id="33" name="막힌 원호 32"/>
            <p:cNvSpPr/>
            <p:nvPr/>
          </p:nvSpPr>
          <p:spPr>
            <a:xfrm rot="5400000">
              <a:off x="-634734" y="1382296"/>
              <a:ext cx="476364" cy="288032"/>
            </a:xfrm>
            <a:prstGeom prst="blockArc">
              <a:avLst>
                <a:gd name="adj1" fmla="val 10742359"/>
                <a:gd name="adj2" fmla="val 339722"/>
                <a:gd name="adj3" fmla="val 18761"/>
              </a:avLst>
            </a:prstGeom>
            <a:solidFill>
              <a:srgbClr val="D9D9D9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8149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3789195"/>
            <a:ext cx="5797550" cy="809625"/>
          </a:xfrm>
          <a:prstGeom prst="rect">
            <a:avLst/>
          </a:prstGeom>
        </p:spPr>
        <p:txBody>
          <a:bodyPr/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 kern="1200" spc="-70">
                <a:gradFill>
                  <a:gsLst>
                    <a:gs pos="0">
                      <a:srgbClr val="1041A4"/>
                    </a:gs>
                    <a:gs pos="100000">
                      <a:srgbClr val="1041A4"/>
                    </a:gs>
                  </a:gsLst>
                  <a:lin ang="5400000" scaled="0"/>
                </a:gradFill>
                <a:latin typeface="SLI 파트너 B" pitchFamily="18" charset="-127"/>
                <a:ea typeface="SLI 파트너 B" pitchFamily="18" charset="-127"/>
                <a:cs typeface="+mj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4000" spc="0" dirty="0">
                <a:ln>
                  <a:solidFill>
                    <a:srgbClr val="808080">
                      <a:alpha val="1500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혁신적 대안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315" y="2213865"/>
            <a:ext cx="1515158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9600" b="1" dirty="0">
                <a:ln w="3175">
                  <a:solidFill>
                    <a:srgbClr val="808080">
                      <a:alpha val="15000"/>
                    </a:srgbClr>
                  </a:solidFill>
                </a:ln>
                <a:solidFill>
                  <a:srgbClr val="969696"/>
                </a:solidFill>
                <a:latin typeface="SLI 파트너 EB" panose="02020603020101020101" pitchFamily="18" charset="-127"/>
                <a:ea typeface="SLI 파트너 EB" panose="02020603020101020101" pitchFamily="18" charset="-127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92700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8409-65A1-9D77-7692-3826C1D04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KR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69D95FE-FE7E-CAEA-8CEA-121FFA4038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308544" y="728699"/>
            <a:ext cx="9761088" cy="549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326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4E59-A3AC-6C77-DCE8-5A41C6644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KR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DA452EE-4FC3-10CD-0EFA-E22453453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8530" y="728699"/>
            <a:ext cx="9521060" cy="5355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119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3789195"/>
            <a:ext cx="5797550" cy="809625"/>
          </a:xfrm>
          <a:prstGeom prst="rect">
            <a:avLst/>
          </a:prstGeom>
        </p:spPr>
        <p:txBody>
          <a:bodyPr/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 kern="1200" spc="-70">
                <a:gradFill>
                  <a:gsLst>
                    <a:gs pos="0">
                      <a:srgbClr val="1041A4"/>
                    </a:gs>
                    <a:gs pos="100000">
                      <a:srgbClr val="1041A4"/>
                    </a:gs>
                  </a:gsLst>
                  <a:lin ang="5400000" scaled="0"/>
                </a:gradFill>
                <a:latin typeface="SLI 파트너 B" pitchFamily="18" charset="-127"/>
                <a:ea typeface="SLI 파트너 B" pitchFamily="18" charset="-127"/>
                <a:cs typeface="+mj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SLI 파트너 B" pitchFamily="18" charset="-127"/>
                <a:ea typeface="SLI 파트너 B" pitchFamily="18" charset="-127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4000" spc="0" dirty="0">
                <a:ln>
                  <a:solidFill>
                    <a:srgbClr val="808080">
                      <a:alpha val="1500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확실한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315" y="2213865"/>
            <a:ext cx="1515158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9600" b="1" dirty="0">
                <a:ln w="3175">
                  <a:solidFill>
                    <a:srgbClr val="808080">
                      <a:alpha val="15000"/>
                    </a:srgbClr>
                  </a:solidFill>
                </a:ln>
                <a:solidFill>
                  <a:srgbClr val="969696"/>
                </a:solidFill>
                <a:latin typeface="SLI 파트너 EB" panose="02020603020101020101" pitchFamily="18" charset="-127"/>
                <a:ea typeface="SLI 파트너 EB" panose="02020603020101020101" pitchFamily="18" charset="-127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4202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649726" y="2530996"/>
            <a:ext cx="5827236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6000" b="1" i="1" dirty="0">
                <a:solidFill>
                  <a:schemeClr val="bg1">
                    <a:lumMod val="95000"/>
                  </a:schemeClr>
                </a:solidFill>
                <a:latin typeface="Times New Roman" pitchFamily="18" charset="0"/>
                <a:ea typeface="바탕" pitchFamily="18" charset="-127"/>
              </a:rPr>
              <a:t>End of Document</a:t>
            </a:r>
          </a:p>
        </p:txBody>
      </p:sp>
    </p:spTree>
    <p:extLst>
      <p:ext uri="{BB962C8B-B14F-4D97-AF65-F5344CB8AC3E}">
        <p14:creationId xmlns:p14="http://schemas.microsoft.com/office/powerpoint/2010/main" val="2756625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사용자 지정 2">
      <a:majorFont>
        <a:latin typeface="SLI 파트너 M"/>
        <a:ea typeface="SLI 파트너 M"/>
        <a:cs typeface=""/>
      </a:majorFont>
      <a:minorFont>
        <a:latin typeface="SLI 파트너 M"/>
        <a:ea typeface="SLI 파트너 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C4DA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2025 세제개편안 자료_WM제작" id="{DBB87B2A-F4AB-A242-9356-94141FC32434}" vid="{44697938-F0B1-814D-B75A-246A757A24E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40632</TotalTime>
  <Words>129</Words>
  <Application>Microsoft Macintosh PowerPoint</Application>
  <PresentationFormat>On-screen Show (4:3)</PresentationFormat>
  <Paragraphs>46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HY견고딕</vt:lpstr>
      <vt:lpstr>Times New Roman</vt:lpstr>
      <vt:lpstr>HY견고딕</vt:lpstr>
      <vt:lpstr>굴림</vt:lpstr>
      <vt:lpstr>Pretendard</vt:lpstr>
      <vt:lpstr>SLI 파트너 EB</vt:lpstr>
      <vt:lpstr>Wingdings</vt:lpstr>
      <vt:lpstr>맑은 고딕</vt:lpstr>
      <vt:lpstr>SLI 파트너 B</vt:lpstr>
      <vt:lpstr>Arial</vt:lpstr>
      <vt:lpstr>Office 테마</vt:lpstr>
      <vt:lpstr>PowerPoint Presentation</vt:lpstr>
      <vt:lpstr>PowerPoint Presentation</vt:lpstr>
      <vt:lpstr>PowerPoint Presentation</vt:lpstr>
      <vt:lpstr>상속세 및 증여세 분야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DWKIM</dc:creator>
  <cp:lastModifiedBy>재홍 임</cp:lastModifiedBy>
  <cp:revision>2824</cp:revision>
  <cp:lastPrinted>2025-08-08T01:58:42Z</cp:lastPrinted>
  <dcterms:created xsi:type="dcterms:W3CDTF">2012-05-04T09:37:40Z</dcterms:created>
  <dcterms:modified xsi:type="dcterms:W3CDTF">2025-08-17T02:16:43Z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5C58129F-E5B8-477A-9B38-B3E54BFA04C8}" pid="2">
    <vt:lpwstr>D5E041ABAC1D743025090231571F8D3BE7A9F89141CA8ED766AA10F07B8A9E98</vt:lpwstr>
  </property>
  <property fmtid="{D5CDD505-2E9C-101B-9397-08002B2CF9AE}" pid="2" name="NSCPROP">
    <vt:lpwstr>NSCCustomProperty</vt:lpwstr>
  </property>
</Properties>
</file>
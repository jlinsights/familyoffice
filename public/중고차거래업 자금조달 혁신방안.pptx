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1103" r:id="rId2"/>
    <p:sldId id="2360" r:id="rId3"/>
    <p:sldId id="2487" r:id="rId4"/>
    <p:sldId id="2476" r:id="rId5"/>
    <p:sldId id="2361" r:id="rId6"/>
    <p:sldId id="2563" r:id="rId7"/>
    <p:sldId id="2463" r:id="rId8"/>
    <p:sldId id="2607" r:id="rId9"/>
    <p:sldId id="2378" r:id="rId10"/>
  </p:sldIdLst>
  <p:sldSz cx="9144000" cy="6858000" type="screen4x3"/>
  <p:notesSz cx="6797675" cy="9926638"/>
  <p:embeddedFontLst>
    <p:embeddedFont>
      <p:font typeface="굴림" panose="020B0600000101010101" pitchFamily="34" charset="-127"/>
      <p:regular r:id="rId13"/>
    </p:embeddedFont>
    <p:embeddedFont>
      <p:font typeface="맑은 고딕" panose="020B0503020000020004" pitchFamily="34" charset="-127"/>
      <p:regular r:id="rId14"/>
      <p:bold r:id="rId15"/>
    </p:embeddedFont>
    <p:embeddedFont>
      <p:font typeface="Pretendard" panose="02000503000000020004" pitchFamily="2" charset="-127"/>
      <p:regular r:id="rId16"/>
      <p:bold r:id="rId17"/>
    </p:embeddedFont>
    <p:embeddedFont>
      <p:font typeface="Noto Sans ExtBd" panose="020B0502040504020204" pitchFamily="34" charset="0"/>
      <p:bold r:id="rId18"/>
      <p:italic r:id="rId19"/>
      <p:boldItalic r:id="rId20"/>
    </p:embeddedFont>
    <p:embeddedFont>
      <p:font typeface="Times" panose="02020603050405020304" pitchFamily="18" charset="0"/>
      <p:regular r:id="rId21"/>
      <p:bold r:id="rId22"/>
      <p:italic r:id="rId23"/>
      <p:boldItalic r:id="rId24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3249">
          <p15:clr>
            <a:srgbClr val="A4A3A4"/>
          </p15:clr>
        </p15:guide>
        <p15:guide id="3" orient="horz" pos="3807">
          <p15:clr>
            <a:srgbClr val="A4A3A4"/>
          </p15:clr>
        </p15:guide>
        <p15:guide id="4" orient="horz" pos="777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pos="5759">
          <p15:clr>
            <a:srgbClr val="A4A3A4"/>
          </p15:clr>
        </p15:guide>
        <p15:guide id="7" pos="5465">
          <p15:clr>
            <a:srgbClr val="A4A3A4"/>
          </p15:clr>
        </p15:guide>
        <p15:guide id="8" pos="295">
          <p15:clr>
            <a:srgbClr val="A4A3A4"/>
          </p15:clr>
        </p15:guide>
        <p15:guide id="9" pos="2018">
          <p15:clr>
            <a:srgbClr val="A4A3A4"/>
          </p15:clr>
        </p15:guide>
        <p15:guide id="10" pos="37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E2"/>
    <a:srgbClr val="FFFFE5"/>
    <a:srgbClr val="215968"/>
    <a:srgbClr val="0099FF"/>
    <a:srgbClr val="FFFFCC"/>
    <a:srgbClr val="FFFF66"/>
    <a:srgbClr val="00326B"/>
    <a:srgbClr val="004B9E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8" autoAdjust="0"/>
    <p:restoredTop sz="96133" autoAdjust="0"/>
  </p:normalViewPr>
  <p:slideViewPr>
    <p:cSldViewPr>
      <p:cViewPr>
        <p:scale>
          <a:sx n="115" d="100"/>
          <a:sy n="115" d="100"/>
        </p:scale>
        <p:origin x="432" y="464"/>
      </p:cViewPr>
      <p:guideLst>
        <p:guide orient="horz"/>
        <p:guide orient="horz" pos="3249"/>
        <p:guide orient="horz" pos="3807"/>
        <p:guide orient="horz" pos="777"/>
        <p:guide orient="horz" pos="2160"/>
        <p:guide pos="5759"/>
        <p:guide pos="5465"/>
        <p:guide pos="295"/>
        <p:guide pos="2018"/>
        <p:guide pos="3765"/>
      </p:guideLst>
    </p:cSldViewPr>
  </p:slideViewPr>
  <p:outlineViewPr>
    <p:cViewPr>
      <p:scale>
        <a:sx n="33" d="100"/>
        <a:sy n="33" d="100"/>
      </p:scale>
      <p:origin x="0" y="14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8246"/>
    </p:cViewPr>
  </p:sorterViewPr>
  <p:notesViewPr>
    <p:cSldViewPr>
      <p:cViewPr varScale="1">
        <p:scale>
          <a:sx n="51" d="100"/>
          <a:sy n="51" d="100"/>
        </p:scale>
        <p:origin x="-1992" y="-90"/>
      </p:cViewPr>
      <p:guideLst>
        <p:guide orient="horz" pos="3127"/>
        <p:guide pos="2141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07ACCAD-F4F4-4FF3-95D7-D0B7577B541A}" type="datetimeFigureOut">
              <a:rPr lang="ko-KR" altLang="en-US"/>
              <a:pPr>
                <a:defRPr/>
              </a:pPr>
              <a:t>2025. 8. 16.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7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96F41D1-6E6B-4242-AE40-083C67850DB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8373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6F386B0-E796-493E-9486-116C1056CC23}" type="datetimeFigureOut">
              <a:rPr lang="ko-KR" altLang="en-US"/>
              <a:pPr>
                <a:defRPr/>
              </a:pPr>
              <a:t>2025. 8. 16.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09" tIns="45855" rIns="91709" bIns="45855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709" tIns="45855" rIns="91709" bIns="4585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DD8EC9-51E1-4847-9D6D-FA617BA0827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454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7494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853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63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167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70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7840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671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31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083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C:\Users\jh429.baek\Desktop\표지7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" y="-8774"/>
            <a:ext cx="9151620" cy="688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1601670" y="6153619"/>
            <a:ext cx="5592237" cy="5984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本 자료의 모든 저작권은 삼성생명에 있으며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삼성생명의 동의 없이 어떠한 경우에도 복제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변형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대여 할 수 없습니다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本 자료는 제한된 정보와 多數의 假定을 바탕으로 보편적이고 일반적인 기준에 의해서 작성된 바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個個의 사안에 따라 실제와는 차이가 있거나  다를 수 있습니다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따라서 本 자료는 참고 수준으로만 활용하시기 바라며 보다 구체적인 내용이 요구되거나 實行을 수반하는 경우에는 반드시  해당분야의 전문가로부터 자문을 구하시기 바랍니다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6091571"/>
            <a:ext cx="1490292" cy="541608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7947375" y="42198"/>
            <a:ext cx="1125125" cy="182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98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jh429.baek\Desktop\표지7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914400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 userDrawn="1"/>
        </p:nvSpPr>
        <p:spPr>
          <a:xfrm>
            <a:off x="7992380" y="42197"/>
            <a:ext cx="1080120" cy="236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525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h429.baek\Desktop\5A0A884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2486" r="36188"/>
          <a:stretch/>
        </p:blipFill>
        <p:spPr bwMode="auto">
          <a:xfrm>
            <a:off x="2412591" y="-3630"/>
            <a:ext cx="6731411" cy="645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15"/>
          <p:cNvSpPr/>
          <p:nvPr userDrawn="1"/>
        </p:nvSpPr>
        <p:spPr>
          <a:xfrm>
            <a:off x="1" y="3412"/>
            <a:ext cx="9135104" cy="6854588"/>
          </a:xfrm>
          <a:prstGeom prst="rect">
            <a:avLst/>
          </a:prstGeom>
          <a:gradFill>
            <a:gsLst>
              <a:gs pos="0">
                <a:schemeClr val="accent1">
                  <a:alpha val="15000"/>
                  <a:lumMod val="0"/>
                </a:schemeClr>
              </a:gs>
              <a:gs pos="0">
                <a:schemeClr val="accent1">
                  <a:alpha val="30000"/>
                  <a:lumMod val="5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Freeform 8"/>
          <p:cNvSpPr/>
          <p:nvPr userDrawn="1"/>
        </p:nvSpPr>
        <p:spPr>
          <a:xfrm rot="19800000">
            <a:off x="5493273" y="-664960"/>
            <a:ext cx="570044" cy="7781700"/>
          </a:xfrm>
          <a:custGeom>
            <a:avLst/>
            <a:gdLst>
              <a:gd name="connsiteX0" fmla="*/ 717343 w 717343"/>
              <a:gd name="connsiteY0" fmla="*/ 414158 h 8335672"/>
              <a:gd name="connsiteX1" fmla="*/ 717343 w 717343"/>
              <a:gd name="connsiteY1" fmla="*/ 8335672 h 8335672"/>
              <a:gd name="connsiteX2" fmla="*/ 0 w 717343"/>
              <a:gd name="connsiteY2" fmla="*/ 7921513 h 8335672"/>
              <a:gd name="connsiteX3" fmla="*/ 0 w 717343"/>
              <a:gd name="connsiteY3" fmla="*/ 0 h 833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343" h="8335672">
                <a:moveTo>
                  <a:pt x="717343" y="414158"/>
                </a:moveTo>
                <a:lnTo>
                  <a:pt x="717343" y="8335672"/>
                </a:lnTo>
                <a:lnTo>
                  <a:pt x="0" y="792151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5000">
                <a:schemeClr val="tx2">
                  <a:lumMod val="50000"/>
                </a:schemeClr>
              </a:gs>
              <a:gs pos="0">
                <a:srgbClr val="17181A">
                  <a:alpha val="0"/>
                </a:srgbClr>
              </a:gs>
              <a:gs pos="100000">
                <a:srgbClr val="17181A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 dirty="0"/>
          </a:p>
        </p:txBody>
      </p:sp>
      <p:sp>
        <p:nvSpPr>
          <p:cNvPr id="12" name="Freeform 27"/>
          <p:cNvSpPr/>
          <p:nvPr userDrawn="1"/>
        </p:nvSpPr>
        <p:spPr>
          <a:xfrm>
            <a:off x="1" y="-3629"/>
            <a:ext cx="7855568" cy="6459038"/>
          </a:xfrm>
          <a:custGeom>
            <a:avLst/>
            <a:gdLst>
              <a:gd name="connsiteX0" fmla="*/ 0 w 10318750"/>
              <a:gd name="connsiteY0" fmla="*/ 0 h 6857999"/>
              <a:gd name="connsiteX1" fmla="*/ 4997450 w 10318750"/>
              <a:gd name="connsiteY1" fmla="*/ 0 h 6857999"/>
              <a:gd name="connsiteX2" fmla="*/ 10318750 w 10318750"/>
              <a:gd name="connsiteY2" fmla="*/ 6857999 h 6857999"/>
              <a:gd name="connsiteX3" fmla="*/ 4997450 w 10318750"/>
              <a:gd name="connsiteY3" fmla="*/ 6857999 h 6857999"/>
              <a:gd name="connsiteX4" fmla="*/ 0 w 1031875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8750" h="6857999">
                <a:moveTo>
                  <a:pt x="0" y="0"/>
                </a:moveTo>
                <a:lnTo>
                  <a:pt x="4997450" y="0"/>
                </a:lnTo>
                <a:lnTo>
                  <a:pt x="10318750" y="6857999"/>
                </a:lnTo>
                <a:lnTo>
                  <a:pt x="499745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7970557" y="42197"/>
            <a:ext cx="1101943" cy="281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08655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5"/>
          <p:cNvSpPr/>
          <p:nvPr userDrawn="1"/>
        </p:nvSpPr>
        <p:spPr>
          <a:xfrm>
            <a:off x="0" y="6489340"/>
            <a:ext cx="9143999" cy="36866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7000"/>
                  <a:lumOff val="13000"/>
                  <a:alpha val="35000"/>
                </a:schemeClr>
              </a:gs>
              <a:gs pos="0">
                <a:schemeClr val="accent1">
                  <a:alpha val="30000"/>
                  <a:lumMod val="55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1"/>
            <a:ext cx="9144000" cy="728698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평행 사변형 5"/>
          <p:cNvSpPr/>
          <p:nvPr userDrawn="1"/>
        </p:nvSpPr>
        <p:spPr>
          <a:xfrm rot="10800000">
            <a:off x="142190" y="-3"/>
            <a:ext cx="578985" cy="991991"/>
          </a:xfrm>
          <a:prstGeom prst="parallelogram">
            <a:avLst>
              <a:gd name="adj" fmla="val 500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31540" cy="967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평행 사변형 7"/>
          <p:cNvSpPr/>
          <p:nvPr userDrawn="1"/>
        </p:nvSpPr>
        <p:spPr>
          <a:xfrm rot="10800000">
            <a:off x="71500" y="-3"/>
            <a:ext cx="578985" cy="991991"/>
          </a:xfrm>
          <a:prstGeom prst="parallelogram">
            <a:avLst>
              <a:gd name="adj" fmla="val 500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Picture 2" descr="C:\Users\jh429.baek\Desktop\봉투(vip)_40%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18" t="28545" r="21553" b="47130"/>
          <a:stretch/>
        </p:blipFill>
        <p:spPr bwMode="auto">
          <a:xfrm flipH="1">
            <a:off x="-1" y="-3154"/>
            <a:ext cx="566554" cy="73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 userDrawn="1"/>
        </p:nvSpPr>
        <p:spPr>
          <a:xfrm>
            <a:off x="7947375" y="42197"/>
            <a:ext cx="1125125" cy="281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3598" y="-3154"/>
            <a:ext cx="8430402" cy="731853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4575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399331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0" y="6399330"/>
            <a:ext cx="9144000" cy="458670"/>
          </a:xfrm>
          <a:prstGeom prst="rect">
            <a:avLst/>
          </a:prstGeom>
          <a:solidFill>
            <a:srgbClr val="00326B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7992380" y="42197"/>
            <a:ext cx="1080120" cy="293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1556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7008777" y="6595763"/>
            <a:ext cx="2057400" cy="27511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SLI 파트너 M" panose="02020603020101020101" pitchFamily="18" charset="-127"/>
                <a:ea typeface="SLI 파트너 M" panose="02020603020101020101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삼성생명 기업컨설팅센터  </a:t>
            </a:r>
            <a:fld id="{45E4F50E-807B-4D45-8FDB-3889098A9BF8}" type="slidenum">
              <a:rPr kumimoji="0"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/>
              <a:t>‹#›</a:t>
            </a:fld>
            <a:r>
              <a:rPr kumimoji="0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70</a:t>
            </a:r>
            <a:endParaRPr kumimoji="0"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36" r:id="rId2"/>
    <p:sldLayoutId id="2147483956" r:id="rId3"/>
    <p:sldLayoutId id="2147483957" r:id="rId4"/>
    <p:sldLayoutId id="2147483953" r:id="rId5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kern="1200" spc="-70">
          <a:gradFill>
            <a:gsLst>
              <a:gs pos="0">
                <a:srgbClr val="1041A4"/>
              </a:gs>
              <a:gs pos="100000">
                <a:srgbClr val="1041A4"/>
              </a:gs>
            </a:gsLst>
            <a:lin ang="5400000" scaled="0"/>
          </a:gradFill>
          <a:latin typeface="SLI 파트너 B" pitchFamily="18" charset="-127"/>
          <a:ea typeface="SLI 파트너 B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4136492" y="4284095"/>
            <a:ext cx="2865777" cy="675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LI 파트너 B" pitchFamily="18" charset="-127"/>
                <a:ea typeface="SLI 파트너 B" pitchFamily="18" charset="-127"/>
              </a:rPr>
              <a:t>        2025. 8.   </a:t>
            </a: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LI 파트너 B" pitchFamily="18" charset="-127"/>
                <a:ea typeface="SLI 파트너 B" pitchFamily="18" charset="-127"/>
              </a:rPr>
              <a:t>삼성생명 프로젝트팀</a:t>
            </a:r>
            <a:endParaRPr kumimoji="0" lang="en-US" altLang="ko-KR" dirty="0">
              <a:ln w="3175">
                <a:solidFill>
                  <a:srgbClr val="808080">
                    <a:alpha val="15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LI 파트너 B" pitchFamily="18" charset="-127"/>
              <a:ea typeface="SLI 파트너 B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1631" y="2483895"/>
            <a:ext cx="7902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3600" spc="-150" dirty="0">
                <a:ln>
                  <a:solidFill>
                    <a:srgbClr val="00326B">
                      <a:alpha val="10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중고차거래업</a:t>
            </a:r>
            <a:endParaRPr lang="en-US" altLang="ko-KR" sz="3600" spc="-150" dirty="0">
              <a:ln>
                <a:solidFill>
                  <a:srgbClr val="00326B">
                    <a:alpha val="10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defRPr/>
            </a:pPr>
            <a:r>
              <a:rPr lang="ko-KR" altLang="en-US" sz="3600" spc="-150" dirty="0">
                <a:ln>
                  <a:solidFill>
                    <a:srgbClr val="00326B">
                      <a:alpha val="10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자금조달 혁신 방안</a:t>
            </a:r>
            <a:endParaRPr lang="en-US" altLang="ko-KR" sz="3600" spc="-150" dirty="0">
              <a:ln>
                <a:solidFill>
                  <a:srgbClr val="00326B">
                    <a:alpha val="10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33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0771" y="1268760"/>
            <a:ext cx="3111139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r>
              <a:rPr kumimoji="0" lang="ko-KR" altLang="en-US" sz="5500" dirty="0">
                <a:ln>
                  <a:solidFill>
                    <a:srgbClr val="00326B">
                      <a:alpha val="15000"/>
                    </a:srgbClr>
                  </a:solidFill>
                </a:ln>
                <a:solidFill>
                  <a:srgbClr val="00326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 차</a:t>
            </a:r>
            <a:endParaRPr kumimoji="0" lang="en-US" sz="5500" dirty="0">
              <a:ln>
                <a:solidFill>
                  <a:srgbClr val="00326B">
                    <a:alpha val="15000"/>
                  </a:srgbClr>
                </a:solidFill>
              </a:ln>
              <a:solidFill>
                <a:srgbClr val="00326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5" name="그룹 34"/>
          <p:cNvGrpSpPr>
            <a:grpSpLocks/>
          </p:cNvGrpSpPr>
          <p:nvPr/>
        </p:nvGrpSpPr>
        <p:grpSpPr bwMode="auto">
          <a:xfrm>
            <a:off x="656566" y="3826389"/>
            <a:ext cx="6075674" cy="523221"/>
            <a:chOff x="1072945" y="2767085"/>
            <a:chExt cx="6075519" cy="523559"/>
          </a:xfrm>
          <a:noFill/>
        </p:grpSpPr>
        <p:sp>
          <p:nvSpPr>
            <p:cNvPr id="46" name="TextBox 45"/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02.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소득세 및 법인세충 분야</a:t>
              </a:r>
            </a:p>
          </p:txBody>
        </p:sp>
      </p:grpSp>
      <p:grpSp>
        <p:nvGrpSpPr>
          <p:cNvPr id="13" name="그룹 34"/>
          <p:cNvGrpSpPr>
            <a:grpSpLocks/>
          </p:cNvGrpSpPr>
          <p:nvPr/>
        </p:nvGrpSpPr>
        <p:grpSpPr bwMode="auto">
          <a:xfrm>
            <a:off x="656565" y="4705979"/>
            <a:ext cx="6075674" cy="523221"/>
            <a:chOff x="1072945" y="2767085"/>
            <a:chExt cx="6075519" cy="523559"/>
          </a:xfrm>
          <a:noFill/>
        </p:grpSpPr>
        <p:sp>
          <p:nvSpPr>
            <p:cNvPr id="14" name="TextBox 13"/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03.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기타 세법 분야</a:t>
              </a:r>
            </a:p>
          </p:txBody>
        </p:sp>
      </p:grpSp>
      <p:grpSp>
        <p:nvGrpSpPr>
          <p:cNvPr id="5" name="그룹 34">
            <a:extLst>
              <a:ext uri="{FF2B5EF4-FFF2-40B4-BE49-F238E27FC236}">
                <a16:creationId xmlns:a16="http://schemas.microsoft.com/office/drawing/2014/main" id="{0886B225-BCEC-37EF-5743-FA8E67A844A2}"/>
              </a:ext>
            </a:extLst>
          </p:cNvPr>
          <p:cNvGrpSpPr>
            <a:grpSpLocks/>
          </p:cNvGrpSpPr>
          <p:nvPr/>
        </p:nvGrpSpPr>
        <p:grpSpPr bwMode="auto">
          <a:xfrm>
            <a:off x="656566" y="3012350"/>
            <a:ext cx="6075674" cy="523221"/>
            <a:chOff x="1072945" y="2767085"/>
            <a:chExt cx="6075519" cy="523559"/>
          </a:xfrm>
          <a:noFill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B3F6D4-E860-C205-516B-F093F10D0578}"/>
                </a:ext>
              </a:extLst>
            </p:cNvPr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01.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5B69AF-67C5-A8B9-E321-133E42BC1911}"/>
                </a:ext>
              </a:extLst>
            </p:cNvPr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b="1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ExtBd" panose="020B0502040504020204" pitchFamily="34" charset="0"/>
                  <a:ea typeface="HY견고딕" panose="02030600000101010101" pitchFamily="18" charset="-127"/>
                  <a:cs typeface="Noto Sans ExtBd" panose="020B0502040504020204" pitchFamily="34" charset="0"/>
                </a:rPr>
                <a:t>  충인 현실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659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상속세 및 증여세 분야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246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상속세 및 증여세 분야</a:t>
            </a: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ko-KR" altLang="en-US" b="1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영리법인에 유증시 상속세 납부의무자 확대</a:t>
            </a:r>
            <a:r>
              <a:rPr lang="en-US" altLang="ko-KR" b="1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(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상증법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§3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의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2)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489951"/>
              </p:ext>
            </p:extLst>
          </p:nvPr>
        </p:nvGraphicFramePr>
        <p:xfrm>
          <a:off x="439853" y="1358770"/>
          <a:ext cx="8271894" cy="49955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135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   행</a:t>
                      </a: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  정  안</a:t>
                      </a:r>
                    </a:p>
                  </a:txBody>
                  <a:tcPr marT="45706" marB="45706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2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lvl="0" indent="0" latinLnBrk="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■ 영리법인이 수유자 또는 특별연고자인 경우 </a:t>
                      </a:r>
                      <a:br>
                        <a:rPr kumimoji="0" lang="en-US" altLang="ko-KR" sz="1600" b="1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</a:br>
                      <a:r>
                        <a:rPr kumimoji="0" lang="en-US" altLang="ko-KR" sz="1600" b="1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    </a:t>
                      </a: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상속세 납부의무자</a:t>
                      </a:r>
                      <a:endParaRPr kumimoji="0" lang="en-US" altLang="ko-KR" sz="1600" b="1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"/>
                      </a:endParaRPr>
                    </a:p>
                    <a:p>
                      <a:pPr marL="0" lvl="0" indent="0" latinLnBrk="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상속인과 그 직계비속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600" b="1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ㅇ</a:t>
                      </a: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en-US" altLang="ko-KR" sz="1600" b="1" kern="1200" dirty="0">
                          <a:solidFill>
                            <a:srgbClr val="006CE2"/>
                          </a:solidFill>
                          <a:latin typeface="+mn-ea"/>
                          <a:ea typeface="+mn-ea"/>
                          <a:cs typeface=""/>
                        </a:rPr>
                        <a:t>〈</a:t>
                      </a:r>
                      <a:r>
                        <a:rPr lang="ko-KR" altLang="en-US" sz="1600" b="1" kern="1200" dirty="0">
                          <a:solidFill>
                            <a:srgbClr val="006CE2"/>
                          </a:solidFill>
                          <a:latin typeface="+mn-ea"/>
                          <a:ea typeface="+mn-ea"/>
                          <a:cs typeface=""/>
                        </a:rPr>
                        <a:t>추  가</a:t>
                      </a:r>
                      <a:r>
                        <a:rPr lang="en-US" altLang="ko-KR" sz="1600" b="1" kern="1200" dirty="0">
                          <a:solidFill>
                            <a:srgbClr val="006CE2"/>
                          </a:solidFill>
                          <a:latin typeface="+mn-ea"/>
                          <a:ea typeface="+mn-ea"/>
                          <a:cs typeface=""/>
                        </a:rPr>
                        <a:t>〉</a:t>
                      </a:r>
                      <a:endParaRPr lang="ko-KR" altLang="en-US" sz="1600" b="1" kern="1200" dirty="0">
                        <a:solidFill>
                          <a:srgbClr val="006CE2"/>
                        </a:solidFill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indent="-263525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endParaRPr lang="en-US" altLang="ko-KR" sz="1600" b="1" kern="1200" spc="0" dirty="0">
                        <a:solidFill>
                          <a:srgbClr val="006CE2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■  납부의무자 추가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5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5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5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좌 동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➋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의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배우자</a:t>
                      </a:r>
                      <a:endParaRPr lang="en-US" altLang="ko-KR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6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&lt;</a:t>
                      </a: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개정 이유</a:t>
                      </a:r>
                      <a:r>
                        <a:rPr kumimoji="0" lang="en-US" altLang="ko-KR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&gt;</a:t>
                      </a:r>
                      <a:r>
                        <a:rPr kumimoji="0" lang="en-US" altLang="ko-KR" sz="16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0" lang="ko-KR" altLang="en-US" sz="16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상속세 납부의무 대상 합리화</a:t>
                      </a:r>
                      <a:endParaRPr kumimoji="0" lang="en-US" altLang="ko-KR" sz="16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 시기</a:t>
                      </a: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  ’26.1.1. 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이후 상속이 개시되는 분부터 적용</a:t>
                      </a:r>
                      <a:endParaRPr kumimoji="0" lang="en-US" altLang="ko-KR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그룹 25"/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9" name="막힌 원호 28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/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2" name="타원 31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3" name="막힌 원호 32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814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소득세 및 법인세 분야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270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소득세 분야</a:t>
            </a: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ko-KR" altLang="en-US" b="1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고배당기업에 대한 배당소득 분리과세 도입</a:t>
            </a:r>
            <a:r>
              <a:rPr lang="en-US" altLang="ko-KR" b="1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(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조특법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§104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의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27 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신설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)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89349"/>
              </p:ext>
            </p:extLst>
          </p:nvPr>
        </p:nvGraphicFramePr>
        <p:xfrm>
          <a:off x="439853" y="1358770"/>
          <a:ext cx="8271894" cy="503458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26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5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   행</a:t>
                      </a: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  정  안</a:t>
                      </a:r>
                    </a:p>
                  </a:txBody>
                  <a:tcPr marT="45706" marB="45706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24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b="1" kern="1200" spc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lang="ko-KR" altLang="en-US" sz="1600" b="1" kern="1200" spc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신 설</a:t>
                      </a:r>
                      <a:r>
                        <a:rPr lang="en-US" altLang="ko-KR" sz="1600" b="1" kern="1200" spc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</a:t>
                      </a:r>
                      <a:endParaRPr lang="ko-KR" altLang="en-US" sz="1600" b="1" kern="1200" spc="0" dirty="0">
                        <a:solidFill>
                          <a:srgbClr val="006CE2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■ 고배당기업 배당소득 분리과세</a:t>
                      </a:r>
                      <a:endParaRPr lang="en-US" altLang="ko-KR" sz="1600" b="1" kern="120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대상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고배당 상장법인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*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주주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거주자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*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전년 대비 현금배당이 감소하지 않은 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또는 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➋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충족 법인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 </a:t>
                      </a:r>
                      <a:r>
                        <a:rPr lang="ko-KR" altLang="en-US" sz="12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배당성향 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40%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이상</a:t>
                      </a: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 </a:t>
                      </a:r>
                      <a:r>
                        <a:rPr lang="ko-KR" altLang="en-US" sz="12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➋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배당성향 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25%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이상 및 직전 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년 평균 대비 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5% 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이상 배당 증가</a:t>
                      </a:r>
                      <a:endParaRPr lang="en-US" altLang="ko-KR" sz="14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- (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제외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공모ㆍ사모펀드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,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리츠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,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투자목적회사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(SPC)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등</a:t>
                      </a: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kern="120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ㅇ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과세특례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고배당기업</a:t>
                      </a:r>
                      <a:r>
                        <a:rPr lang="ko-KR" altLang="en-US" sz="1600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배당소득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은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금융소득 종합과세 대상에서 제외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하여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분리과세</a:t>
                      </a:r>
                      <a:endParaRPr lang="en-US" altLang="ko-KR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5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-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대상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현금배당액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중간ㆍ분기ㆍ결산배당 포함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endParaRPr lang="ko-KR" altLang="en-US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-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적용세율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단계 누진세율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적용기간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’28.12.31.이 속하는 사업연도에 귀속되는 배당분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까지</a:t>
                      </a: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개정 이유</a:t>
                      </a: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</a:t>
                      </a:r>
                      <a:r>
                        <a:rPr kumimoji="0" lang="en-US" altLang="ko-KR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kumimoji="0" lang="ko-KR" altLang="en-US" sz="16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주식시장 활성화 촉진을 통한 경제 선순환 제고</a:t>
                      </a:r>
                      <a:endParaRPr kumimoji="0" lang="en-US" altLang="ko-KR" sz="1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 시기</a:t>
                      </a: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  ’26.1.1. 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이후 개시하는 사업연도에 귀속되는 배당 분부터 적용</a:t>
                      </a:r>
                      <a:endParaRPr kumimoji="0" lang="en-US" altLang="ko-KR" sz="16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그룹 25"/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9" name="막힌 원호 28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/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2" name="타원 31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3" name="막힌 원호 32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060577"/>
              </p:ext>
            </p:extLst>
          </p:nvPr>
        </p:nvGraphicFramePr>
        <p:xfrm>
          <a:off x="1916706" y="4542740"/>
          <a:ext cx="6300703" cy="799240"/>
        </p:xfrm>
        <a:graphic>
          <a:graphicData uri="http://schemas.openxmlformats.org/drawingml/2006/table">
            <a:tbl>
              <a:tblPr/>
              <a:tblGrid>
                <a:gridCol w="1260139">
                  <a:extLst>
                    <a:ext uri="{9D8B030D-6E8A-4147-A177-3AD203B41FA5}">
                      <a16:colId xmlns:a16="http://schemas.microsoft.com/office/drawing/2014/main" val="529178070"/>
                    </a:ext>
                  </a:extLst>
                </a:gridCol>
                <a:gridCol w="1680188">
                  <a:extLst>
                    <a:ext uri="{9D8B030D-6E8A-4147-A177-3AD203B41FA5}">
                      <a16:colId xmlns:a16="http://schemas.microsoft.com/office/drawing/2014/main" val="308787967"/>
                    </a:ext>
                  </a:extLst>
                </a:gridCol>
                <a:gridCol w="1680188">
                  <a:extLst>
                    <a:ext uri="{9D8B030D-6E8A-4147-A177-3AD203B41FA5}">
                      <a16:colId xmlns:a16="http://schemas.microsoft.com/office/drawing/2014/main" val="1775584693"/>
                    </a:ext>
                  </a:extLst>
                </a:gridCol>
                <a:gridCol w="1680188">
                  <a:extLst>
                    <a:ext uri="{9D8B030D-6E8A-4147-A177-3AD203B41FA5}">
                      <a16:colId xmlns:a16="http://schemas.microsoft.com/office/drawing/2014/main" val="3694371968"/>
                    </a:ext>
                  </a:extLst>
                </a:gridCol>
              </a:tblGrid>
              <a:tr h="4790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과세표준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천만원 이하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천만원 초과</a:t>
                      </a:r>
                      <a:endParaRPr lang="en-US" altLang="ko-KR" sz="14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억원 이하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억원 초과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15270"/>
                  </a:ext>
                </a:extLst>
              </a:tr>
              <a:tr h="3201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적용세율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14%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20%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0" baseline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35%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42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22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기타 세법 분야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202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기타 세법 분야</a:t>
            </a: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ko-KR" altLang="en-US" b="1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영세 개인사업자 체납액 징수특례 신청요건 완화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(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조특법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§99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의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10, 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조특령 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§99</a:t>
            </a:r>
            <a:r>
              <a:rPr lang="ko-KR" altLang="en-US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의</a:t>
            </a:r>
            <a:r>
              <a:rPr lang="en-US" altLang="ko-KR" sz="1400" dirty="0">
                <a:latin typeface="SLI 파트너 B" panose="02020603020101020101" pitchFamily="18" charset="-127"/>
                <a:ea typeface="SLI 파트너 B" panose="02020603020101020101" pitchFamily="18" charset="-127"/>
              </a:rPr>
              <a:t>9)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375742"/>
              </p:ext>
            </p:extLst>
          </p:nvPr>
        </p:nvGraphicFramePr>
        <p:xfrm>
          <a:off x="439853" y="1358770"/>
          <a:ext cx="8271894" cy="49955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67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현   행</a:t>
                      </a: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ea"/>
                          <a:ea typeface=""/>
                          <a:cs typeface=""/>
                        </a:rPr>
                        <a:t>개  정  안</a:t>
                      </a:r>
                    </a:p>
                  </a:txBody>
                  <a:tcPr marT="45706" marB="45706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52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179388" lvl="0" indent="-179388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■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영세사업자의 체납액 징수특례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indent="-263525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 </a:t>
                      </a:r>
                      <a:r>
                        <a:rPr lang="en-US" altLang="ko-KR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대상 체납액</a:t>
                      </a:r>
                      <a:r>
                        <a:rPr lang="en-US" altLang="ko-KR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ko-KR" altLang="en-US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폐업연도의 </a:t>
                      </a:r>
                      <a:r>
                        <a:rPr lang="en-US" altLang="ko-KR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7.25. </a:t>
                      </a:r>
                      <a:r>
                        <a:rPr lang="ko-KR" altLang="en-US" sz="1600" kern="1200" spc="-12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기준 징수곤란 체납액*</a:t>
                      </a:r>
                    </a:p>
                    <a:p>
                      <a:pPr marL="263525" indent="-263525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* 기준일 당시 무재산 등으로 인해 징수할 수 없는 체납액</a:t>
                      </a:r>
                    </a:p>
                    <a:p>
                      <a:pPr marL="263525" indent="-263525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징수특례 내용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납부지연가산세 면제 및 분납 허용</a:t>
                      </a:r>
                      <a:endParaRPr lang="en-US" altLang="ko-KR" sz="1600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indent="-263525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적용대상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재기영세사업자</a:t>
                      </a:r>
                    </a:p>
                    <a:p>
                      <a:pPr marL="263525" indent="-263525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4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폐업 직전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년 평균 수입금액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15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억원 미만 등</a:t>
                      </a:r>
                      <a:endParaRPr lang="en-US" altLang="ko-KR" sz="1600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263525" marR="0" indent="-2635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</a:t>
                      </a:r>
                      <a:r>
                        <a:rPr lang="ko-KR" altLang="en-US" sz="14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➋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’24.12.31.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이전 폐업 및 ’</a:t>
                      </a: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27.12.31.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까지 재기</a:t>
                      </a:r>
                      <a:endParaRPr lang="en-US" altLang="ko-KR" sz="1600" b="1" kern="1200" spc="-50" baseline="0" dirty="0">
                        <a:solidFill>
                          <a:srgbClr val="006CE2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spcAft>
                          <a:spcPts val="300"/>
                        </a:spcAft>
                      </a:pP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- </a:t>
                      </a:r>
                      <a:r>
                        <a:rPr lang="ko-KR" altLang="en-US" sz="16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재기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: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(ⅰ)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또는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(ⅱ)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충족</a:t>
                      </a:r>
                    </a:p>
                    <a:p>
                      <a:pPr fontAlgn="base" latinLnBrk="1">
                        <a:spcAft>
                          <a:spcPts val="300"/>
                        </a:spcAft>
                      </a:pP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  (ⅰ) 1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개월 이상 사업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(ⅱ)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개월 이상 근무 </a:t>
                      </a:r>
                      <a:endParaRPr lang="en-US" altLang="ko-KR" sz="1600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추 가</a:t>
                      </a: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</a:t>
                      </a:r>
                      <a:endParaRPr lang="ko-KR" altLang="en-US" sz="1600" b="1" kern="1200" spc="-50" baseline="0" dirty="0">
                        <a:solidFill>
                          <a:srgbClr val="006CE2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fontAlgn="base" latinLnBrk="1">
                        <a:spcAft>
                          <a:spcPts val="300"/>
                        </a:spcAft>
                      </a:pPr>
                      <a:endParaRPr lang="en-US" altLang="ko-KR" sz="1600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</a:t>
                      </a:r>
                      <a:r>
                        <a:rPr lang="ko-KR" altLang="en-US" sz="14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➌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체납액 </a:t>
                      </a: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5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천만원 이하</a:t>
                      </a:r>
                    </a:p>
                    <a:p>
                      <a:pPr marL="263525" marR="0" indent="-2635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effectLst/>
                          <a:latin typeface="Times"/>
                          <a:ea typeface=""/>
                          <a:cs typeface=""/>
                        </a:rPr>
                        <a:t> 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ㅇ </a:t>
                      </a:r>
                      <a:r>
                        <a:rPr lang="en-US" altLang="ko-KR" sz="16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신청기한</a:t>
                      </a:r>
                      <a:r>
                        <a:rPr lang="en-US" altLang="ko-KR" sz="16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r>
                        <a:rPr lang="ko-KR" altLang="en-US" sz="1600" b="1" kern="1200" spc="-50" baseline="0" dirty="0">
                          <a:solidFill>
                            <a:srgbClr val="0099FF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</a:t>
                      </a:r>
                      <a:r>
                        <a:rPr lang="en-US" altLang="ko-KR" sz="1600" b="1" kern="1200" spc="-50" baseline="0" dirty="0">
                          <a:solidFill>
                            <a:srgbClr val="006CE2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28.12.31.</a:t>
                      </a:r>
                      <a:endParaRPr lang="ko-KR" altLang="en-US" sz="1600" b="1" kern="1200" spc="-50" baseline="0" dirty="0">
                        <a:solidFill>
                          <a:srgbClr val="006CE2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■ 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적용요건 완화 및 적용기한 연장</a:t>
                      </a:r>
                      <a:endParaRPr lang="en-US" altLang="ko-KR" sz="1600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endParaRPr lang="en-US" altLang="ko-KR" sz="10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endParaRPr lang="en-US" altLang="ko-KR" sz="14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marR="0" indent="-3111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➊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좌 동</a:t>
                      </a:r>
                      <a:r>
                        <a:rPr lang="en-US" altLang="ko-KR" sz="1600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  <a:endParaRPr lang="ko-KR" altLang="en-US" sz="1600" kern="120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➋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’25.12.31.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이전 폐업 및 ’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28.12.31.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까지 재기</a:t>
                      </a:r>
                      <a:endParaRPr lang="en-US" altLang="ko-KR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-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재기 요건 추가</a:t>
                      </a:r>
                      <a:endParaRPr lang="en-US" altLang="ko-KR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 (ⅰ)·(ⅱ) (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좌 동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</a:p>
                    <a:p>
                      <a:pPr marL="687388" indent="-687388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     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(ⅲ) </a:t>
                      </a:r>
                      <a:r>
                        <a:rPr lang="en-US" altLang="ko-KR" sz="1600" b="1" kern="1200" spc="-50" baseline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3</a:t>
                      </a:r>
                      <a:r>
                        <a:rPr lang="ko-KR" altLang="en-US" sz="1600" b="1" kern="1200" spc="-50" baseline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개월 이상 특수형태 근로종사자 등으로서 노무를 제공한 자 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(</a:t>
                      </a:r>
                      <a:r>
                        <a:rPr lang="ko-KR" altLang="en-US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근로자 제외</a:t>
                      </a:r>
                      <a:r>
                        <a:rPr lang="en-US" altLang="ko-KR" sz="14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)</a:t>
                      </a: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➌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5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천만원 →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8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천만원</a:t>
                      </a:r>
                      <a:endParaRPr lang="en-US" altLang="ko-KR" sz="1600" b="1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311150" indent="-311150" fontAlgn="base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 ㅇ </a:t>
                      </a:r>
                      <a:r>
                        <a:rPr lang="ko-KR" altLang="en-US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</a:t>
                      </a:r>
                      <a:r>
                        <a:rPr lang="en-US" altLang="ko-KR" sz="1600" b="1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29.12.31.</a:t>
                      </a:r>
                    </a:p>
                  </a:txBody>
                  <a:tcPr marT="45706" marB="45706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065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개정 이유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  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영세 개인사업자 재기 지원</a:t>
                      </a:r>
                      <a:endParaRPr lang="en-US" altLang="ko-KR" sz="1600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&lt;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적용 시기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&gt;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’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26.1.1.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"/>
                        </a:rPr>
                        <a:t>이후 특례를 신청하는 분부터 적용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그룹 25"/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막힌 원호 28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0" name="그룹 29"/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타원 31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+mn-ea"/>
                <a:ea typeface="+mn-ea"/>
              </a:endParaRPr>
            </a:p>
          </p:txBody>
        </p:sp>
        <p:sp>
          <p:nvSpPr>
            <p:cNvPr id="33" name="막힌 원호 32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3" name="오른쪽 대괄호 12"/>
          <p:cNvSpPr/>
          <p:nvPr/>
        </p:nvSpPr>
        <p:spPr>
          <a:xfrm>
            <a:off x="4831878" y="2078850"/>
            <a:ext cx="96921" cy="765085"/>
          </a:xfrm>
          <a:prstGeom prst="rightBracket">
            <a:avLst>
              <a:gd name="adj" fmla="val 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28799" y="2263607"/>
            <a:ext cx="15984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ㅇ 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좌 동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endParaRPr lang="ko-KR" altLang="en-US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1345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649726" y="2530996"/>
            <a:ext cx="58272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6000" b="1" i="1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바탕" pitchFamily="18" charset="-127"/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275662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SLI 파트너 M"/>
        <a:ea typeface="SLI 파트너 M"/>
        <a:cs typeface=""/>
      </a:majorFont>
      <a:minorFont>
        <a:latin typeface="SLI 파트너 M"/>
        <a:ea typeface="SLI 파트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C4DA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세제개편안 자료_WM제작" id="{DBB87B2A-F4AB-A242-9356-94141FC32434}" vid="{44697938-F0B1-814D-B75A-246A757A24E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39361</TotalTime>
  <Words>543</Words>
  <Application>Microsoft Macintosh PowerPoint</Application>
  <PresentationFormat>On-screen Show (4:3)</PresentationFormat>
  <Paragraphs>115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SLI 파트너 EB</vt:lpstr>
      <vt:lpstr>Wingdings</vt:lpstr>
      <vt:lpstr>Times</vt:lpstr>
      <vt:lpstr>맑은 고딕</vt:lpstr>
      <vt:lpstr>SLI 파트너 B</vt:lpstr>
      <vt:lpstr>Arial</vt:lpstr>
      <vt:lpstr>HY견고딕</vt:lpstr>
      <vt:lpstr>Times New Roman</vt:lpstr>
      <vt:lpstr>Noto Sans ExtBd</vt:lpstr>
      <vt:lpstr>Pretendard</vt:lpstr>
      <vt:lpstr>굴림</vt:lpstr>
      <vt:lpstr>Office 테마</vt:lpstr>
      <vt:lpstr>PowerPoint Presentation</vt:lpstr>
      <vt:lpstr>PowerPoint Presentation</vt:lpstr>
      <vt:lpstr>PowerPoint Presentation</vt:lpstr>
      <vt:lpstr>상속세 및 증여세 분야</vt:lpstr>
      <vt:lpstr>PowerPoint Presentation</vt:lpstr>
      <vt:lpstr>소득세 분야</vt:lpstr>
      <vt:lpstr>PowerPoint Presentation</vt:lpstr>
      <vt:lpstr>기타 세법 분야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DWKIM</dc:creator>
  <cp:lastModifiedBy>재홍 임</cp:lastModifiedBy>
  <cp:revision>2823</cp:revision>
  <cp:lastPrinted>2025-08-08T01:58:42Z</cp:lastPrinted>
  <dcterms:created xsi:type="dcterms:W3CDTF">2012-05-04T09:37:40Z</dcterms:created>
  <dcterms:modified xsi:type="dcterms:W3CDTF">2025-08-16T05:04:37Z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D5E041ABAC1D743025090231571F8D3BE7A9F89141CA8ED766AA10F07B8A9E98</vt:lpwstr>
  </property>
  <property fmtid="{D5CDD505-2E9C-101B-9397-08002B2CF9AE}" pid="2" name="NSCPROP">
    <vt:lpwstr>NSCCustomProperty</vt:lpwstr>
  </property>
</Properties>
</file>
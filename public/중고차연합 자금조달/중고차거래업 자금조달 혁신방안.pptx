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1103" r:id="rId2"/>
    <p:sldId id="2360" r:id="rId3"/>
    <p:sldId id="2487" r:id="rId4"/>
    <p:sldId id="2476" r:id="rId5"/>
    <p:sldId id="2361" r:id="rId6"/>
    <p:sldId id="2610" r:id="rId7"/>
    <p:sldId id="2463" r:id="rId8"/>
    <p:sldId id="2611" r:id="rId9"/>
    <p:sldId id="2612" r:id="rId10"/>
    <p:sldId id="2608" r:id="rId11"/>
    <p:sldId id="2609" r:id="rId12"/>
    <p:sldId id="2378" r:id="rId13"/>
  </p:sldIdLst>
  <p:sldSz cx="9144000" cy="6858000" type="screen4x3"/>
  <p:notesSz cx="6797675" cy="9926638"/>
  <p:embeddedFontLst>
    <p:embeddedFont>
      <p:font typeface="굴림" panose="020B0600000101010101" pitchFamily="34" charset="-127"/>
      <p:regular r:id="rId16"/>
    </p:embeddedFont>
    <p:embeddedFont>
      <p:font typeface="맑은 고딕" panose="020B0503020000020004" pitchFamily="34" charset="-127"/>
      <p:regular r:id="rId17"/>
      <p:bold r:id="rId18"/>
    </p:embeddedFont>
    <p:embeddedFont>
      <p:font typeface="Pretendard" panose="02000503000000020004" pitchFamily="2" charset="-127"/>
      <p:regular r:id="rId19"/>
      <p:bold r:id="rId20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3249">
          <p15:clr>
            <a:srgbClr val="A4A3A4"/>
          </p15:clr>
        </p15:guide>
        <p15:guide id="3" orient="horz" pos="3807">
          <p15:clr>
            <a:srgbClr val="A4A3A4"/>
          </p15:clr>
        </p15:guide>
        <p15:guide id="4" orient="horz" pos="777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pos="5759">
          <p15:clr>
            <a:srgbClr val="A4A3A4"/>
          </p15:clr>
        </p15:guide>
        <p15:guide id="7" pos="5465">
          <p15:clr>
            <a:srgbClr val="A4A3A4"/>
          </p15:clr>
        </p15:guide>
        <p15:guide id="8" pos="295">
          <p15:clr>
            <a:srgbClr val="A4A3A4"/>
          </p15:clr>
        </p15:guide>
        <p15:guide id="9" pos="2018">
          <p15:clr>
            <a:srgbClr val="A4A3A4"/>
          </p15:clr>
        </p15:guide>
        <p15:guide id="10" pos="37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  <a:srgbClr val="006CE2"/>
    <a:srgbClr val="215968"/>
    <a:srgbClr val="0099FF"/>
    <a:srgbClr val="FFFFCC"/>
    <a:srgbClr val="FFFF66"/>
    <a:srgbClr val="00326B"/>
    <a:srgbClr val="004B9E"/>
    <a:srgbClr val="80808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9" autoAdjust="0"/>
    <p:restoredTop sz="96170" autoAdjust="0"/>
  </p:normalViewPr>
  <p:slideViewPr>
    <p:cSldViewPr>
      <p:cViewPr>
        <p:scale>
          <a:sx n="142" d="100"/>
          <a:sy n="142" d="100"/>
        </p:scale>
        <p:origin x="144" y="464"/>
      </p:cViewPr>
      <p:guideLst>
        <p:guide orient="horz"/>
        <p:guide orient="horz" pos="3249"/>
        <p:guide orient="horz" pos="3807"/>
        <p:guide orient="horz" pos="777"/>
        <p:guide orient="horz" pos="2160"/>
        <p:guide pos="5759"/>
        <p:guide pos="5465"/>
        <p:guide pos="295"/>
        <p:guide pos="2018"/>
        <p:guide pos="3765"/>
      </p:guideLst>
    </p:cSldViewPr>
  </p:slideViewPr>
  <p:outlineViewPr>
    <p:cViewPr>
      <p:scale>
        <a:sx n="33" d="100"/>
        <a:sy n="33" d="100"/>
      </p:scale>
      <p:origin x="0" y="145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8246"/>
    </p:cViewPr>
  </p:sorterViewPr>
  <p:notesViewPr>
    <p:cSldViewPr>
      <p:cViewPr varScale="1">
        <p:scale>
          <a:sx n="51" d="100"/>
          <a:sy n="51" d="100"/>
        </p:scale>
        <p:origin x="-1992" y="-90"/>
      </p:cViewPr>
      <p:guideLst>
        <p:guide orient="horz" pos="3127"/>
        <p:guide pos="2141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4ABA28-5CE3-2744-9815-D037A760FEA4}" type="doc">
      <dgm:prSet loTypeId="urn:microsoft.com/office/officeart/2005/8/layout/venn3" loCatId="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23C580-ACCC-C44D-825E-93163C0EF462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연간손실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en-US" altLang="ko-KR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8.25</a:t>
          </a:r>
          <a:r>
            <a:rPr lang="ko-KR" altLang="en-US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억원</a:t>
          </a:r>
          <a:endParaRPr lang="en-US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6F584A3-ACAB-9148-B1F5-406E11AA45BC}" type="par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B0B441C3-02AF-BD43-93F5-310A6D13B099}" type="sib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87DDD7A-ECDB-CE4E-927B-BCE95948516B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신용등급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en-US" altLang="ko-KR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BB+ (</a:t>
          </a:r>
          <a:r>
            <a:rPr lang="ko-KR" altLang="en-US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보통</a:t>
          </a:r>
          <a:r>
            <a:rPr lang="en-US" altLang="ko-KR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)</a:t>
          </a:r>
        </a:p>
      </dgm:t>
    </dgm:pt>
    <dgm:pt modelId="{9FADAC96-6EFE-944D-BBDF-7F59DA0CE309}" type="par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7BF28EF-0894-EF42-84B8-94404AE25B11}" type="sib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7316E74-9EEE-6649-AAE2-2DB12925C22D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투자자 선택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제한적</a:t>
          </a:r>
          <a:endParaRPr lang="en-US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2394406-CBBD-774C-B2DC-675D496CD2AA}" type="par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13C7A2A-0960-9C4A-8B06-D9D4DDE6741E}" type="sib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4459ED89-F965-6647-A5EA-1C226BA081E5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협상력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미약</a:t>
          </a:r>
          <a:endParaRPr lang="en-US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6B079BC-1816-E74A-BBDE-957759A64365}" type="parTrans" cxnId="{3190F90E-85BA-CE45-ADDE-DB376DB26F53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AE3E80C-DB4A-EE4B-8860-4922D3E6BFC0}" type="sibTrans" cxnId="{3190F90E-85BA-CE45-ADDE-DB376DB26F53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B5F0210A-366C-C140-8A03-9F5166D0F524}" type="pres">
      <dgm:prSet presAssocID="{794ABA28-5CE3-2744-9815-D037A760FEA4}" presName="Name0" presStyleCnt="0">
        <dgm:presLayoutVars>
          <dgm:dir/>
          <dgm:resizeHandles val="exact"/>
        </dgm:presLayoutVars>
      </dgm:prSet>
      <dgm:spPr/>
    </dgm:pt>
    <dgm:pt modelId="{8E9F8509-2832-F740-8C38-C82B6C9DFEC4}" type="pres">
      <dgm:prSet presAssocID="{7123C580-ACCC-C44D-825E-93163C0EF462}" presName="Name5" presStyleLbl="vennNode1" presStyleIdx="0" presStyleCnt="4">
        <dgm:presLayoutVars>
          <dgm:bulletEnabled val="1"/>
        </dgm:presLayoutVars>
      </dgm:prSet>
      <dgm:spPr/>
    </dgm:pt>
    <dgm:pt modelId="{CC1415F4-C91B-DA46-BC33-57C14CF9ED58}" type="pres">
      <dgm:prSet presAssocID="{B0B441C3-02AF-BD43-93F5-310A6D13B099}" presName="space" presStyleCnt="0"/>
      <dgm:spPr/>
    </dgm:pt>
    <dgm:pt modelId="{F0C43D57-4553-5F46-9D14-9D0188DE3537}" type="pres">
      <dgm:prSet presAssocID="{187DDD7A-ECDB-CE4E-927B-BCE95948516B}" presName="Name5" presStyleLbl="vennNode1" presStyleIdx="1" presStyleCnt="4">
        <dgm:presLayoutVars>
          <dgm:bulletEnabled val="1"/>
        </dgm:presLayoutVars>
      </dgm:prSet>
      <dgm:spPr/>
    </dgm:pt>
    <dgm:pt modelId="{4FDD8273-F542-204F-BF32-D7791BD11C5D}" type="pres">
      <dgm:prSet presAssocID="{67BF28EF-0894-EF42-84B8-94404AE25B11}" presName="space" presStyleCnt="0"/>
      <dgm:spPr/>
    </dgm:pt>
    <dgm:pt modelId="{451DEBE2-2BE7-8E46-AACB-3B863AB883FC}" type="pres">
      <dgm:prSet presAssocID="{07316E74-9EEE-6649-AAE2-2DB12925C22D}" presName="Name5" presStyleLbl="vennNode1" presStyleIdx="2" presStyleCnt="4">
        <dgm:presLayoutVars>
          <dgm:bulletEnabled val="1"/>
        </dgm:presLayoutVars>
      </dgm:prSet>
      <dgm:spPr/>
    </dgm:pt>
    <dgm:pt modelId="{286430A1-CBF2-124C-91AF-3EFA4EC4CC22}" type="pres">
      <dgm:prSet presAssocID="{613C7A2A-0960-9C4A-8B06-D9D4DDE6741E}" presName="space" presStyleCnt="0"/>
      <dgm:spPr/>
    </dgm:pt>
    <dgm:pt modelId="{E399C723-E7D8-B441-9727-E89E161CA31F}" type="pres">
      <dgm:prSet presAssocID="{4459ED89-F965-6647-A5EA-1C226BA081E5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3190F90E-85BA-CE45-ADDE-DB376DB26F53}" srcId="{794ABA28-5CE3-2744-9815-D037A760FEA4}" destId="{4459ED89-F965-6647-A5EA-1C226BA081E5}" srcOrd="3" destOrd="0" parTransId="{66B079BC-1816-E74A-BBDE-957759A64365}" sibTransId="{0AE3E80C-DB4A-EE4B-8860-4922D3E6BFC0}"/>
    <dgm:cxn modelId="{5AC99712-DC4A-2D48-8991-E34D601877DD}" type="presOf" srcId="{187DDD7A-ECDB-CE4E-927B-BCE95948516B}" destId="{F0C43D57-4553-5F46-9D14-9D0188DE3537}" srcOrd="0" destOrd="0" presId="urn:microsoft.com/office/officeart/2005/8/layout/venn3"/>
    <dgm:cxn modelId="{0ABEE23E-62F9-D74B-9F59-335B323D89C1}" type="presOf" srcId="{7123C580-ACCC-C44D-825E-93163C0EF462}" destId="{8E9F8509-2832-F740-8C38-C82B6C9DFEC4}" srcOrd="0" destOrd="0" presId="urn:microsoft.com/office/officeart/2005/8/layout/venn3"/>
    <dgm:cxn modelId="{E4BB3B41-06A3-DA4D-8698-DF4F06EC4A6B}" srcId="{794ABA28-5CE3-2744-9815-D037A760FEA4}" destId="{7123C580-ACCC-C44D-825E-93163C0EF462}" srcOrd="0" destOrd="0" parTransId="{06F584A3-ACAB-9148-B1F5-406E11AA45BC}" sibTransId="{B0B441C3-02AF-BD43-93F5-310A6D13B099}"/>
    <dgm:cxn modelId="{5639FE43-2D13-0A42-9579-D088043A2CC5}" type="presOf" srcId="{794ABA28-5CE3-2744-9815-D037A760FEA4}" destId="{B5F0210A-366C-C140-8A03-9F5166D0F524}" srcOrd="0" destOrd="0" presId="urn:microsoft.com/office/officeart/2005/8/layout/venn3"/>
    <dgm:cxn modelId="{33B2C354-0E27-AE48-8C12-3398D094CF80}" srcId="{794ABA28-5CE3-2744-9815-D037A760FEA4}" destId="{07316E74-9EEE-6649-AAE2-2DB12925C22D}" srcOrd="2" destOrd="0" parTransId="{12394406-CBBD-774C-B2DC-675D496CD2AA}" sibTransId="{613C7A2A-0960-9C4A-8B06-D9D4DDE6741E}"/>
    <dgm:cxn modelId="{F011C171-E788-FB4A-A1D2-270341B1E11D}" srcId="{794ABA28-5CE3-2744-9815-D037A760FEA4}" destId="{187DDD7A-ECDB-CE4E-927B-BCE95948516B}" srcOrd="1" destOrd="0" parTransId="{9FADAC96-6EFE-944D-BBDF-7F59DA0CE309}" sibTransId="{67BF28EF-0894-EF42-84B8-94404AE25B11}"/>
    <dgm:cxn modelId="{BC8C61A2-3349-9F47-A0E0-2CACDEA76354}" type="presOf" srcId="{07316E74-9EEE-6649-AAE2-2DB12925C22D}" destId="{451DEBE2-2BE7-8E46-AACB-3B863AB883FC}" srcOrd="0" destOrd="0" presId="urn:microsoft.com/office/officeart/2005/8/layout/venn3"/>
    <dgm:cxn modelId="{4063D8F9-04C0-D842-96F6-57CA44278876}" type="presOf" srcId="{4459ED89-F965-6647-A5EA-1C226BA081E5}" destId="{E399C723-E7D8-B441-9727-E89E161CA31F}" srcOrd="0" destOrd="0" presId="urn:microsoft.com/office/officeart/2005/8/layout/venn3"/>
    <dgm:cxn modelId="{911655DE-23D8-2F4A-8009-B0BFD193E001}" type="presParOf" srcId="{B5F0210A-366C-C140-8A03-9F5166D0F524}" destId="{8E9F8509-2832-F740-8C38-C82B6C9DFEC4}" srcOrd="0" destOrd="0" presId="urn:microsoft.com/office/officeart/2005/8/layout/venn3"/>
    <dgm:cxn modelId="{E181837B-E414-EB4A-B03B-6502D5FAE426}" type="presParOf" srcId="{B5F0210A-366C-C140-8A03-9F5166D0F524}" destId="{CC1415F4-C91B-DA46-BC33-57C14CF9ED58}" srcOrd="1" destOrd="0" presId="urn:microsoft.com/office/officeart/2005/8/layout/venn3"/>
    <dgm:cxn modelId="{BA62CF2D-26AE-6942-B5D9-B25D3AB092C3}" type="presParOf" srcId="{B5F0210A-366C-C140-8A03-9F5166D0F524}" destId="{F0C43D57-4553-5F46-9D14-9D0188DE3537}" srcOrd="2" destOrd="0" presId="urn:microsoft.com/office/officeart/2005/8/layout/venn3"/>
    <dgm:cxn modelId="{6720E340-29D1-F149-A1C3-4046CF0AF32E}" type="presParOf" srcId="{B5F0210A-366C-C140-8A03-9F5166D0F524}" destId="{4FDD8273-F542-204F-BF32-D7791BD11C5D}" srcOrd="3" destOrd="0" presId="urn:microsoft.com/office/officeart/2005/8/layout/venn3"/>
    <dgm:cxn modelId="{03EF71FE-6EFE-A844-ACC0-B527EBECE7FB}" type="presParOf" srcId="{B5F0210A-366C-C140-8A03-9F5166D0F524}" destId="{451DEBE2-2BE7-8E46-AACB-3B863AB883FC}" srcOrd="4" destOrd="0" presId="urn:microsoft.com/office/officeart/2005/8/layout/venn3"/>
    <dgm:cxn modelId="{E6067E93-CC74-824B-B46E-B0DFAD07D6C2}" type="presParOf" srcId="{B5F0210A-366C-C140-8A03-9F5166D0F524}" destId="{286430A1-CBF2-124C-91AF-3EFA4EC4CC22}" srcOrd="5" destOrd="0" presId="urn:microsoft.com/office/officeart/2005/8/layout/venn3"/>
    <dgm:cxn modelId="{58907107-D32F-E345-AA8D-56E534AB2168}" type="presParOf" srcId="{B5F0210A-366C-C140-8A03-9F5166D0F524}" destId="{E399C723-E7D8-B441-9727-E89E161CA31F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94ABA28-5CE3-2744-9815-D037A760FEA4}" type="doc">
      <dgm:prSet loTypeId="urn:microsoft.com/office/officeart/2005/8/layout/process1" loCatId="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123C580-ACCC-C44D-825E-93163C0EF462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기관투자가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제공</a:t>
          </a:r>
          <a:endParaRPr lang="en-US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6F584A3-ACAB-9148-B1F5-406E11AA45BC}" type="par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B0B441C3-02AF-BD43-93F5-310A6D13B099}" type="sib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87DDD7A-ECDB-CE4E-927B-BCE95948516B}">
      <dgm:prSet phldrT="[Text]"/>
      <dgm:spPr/>
      <dgm:t>
        <a:bodyPr/>
        <a:lstStyle/>
        <a:p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증권발행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조달</a:t>
          </a:r>
          <a:endParaRPr lang="en-US" altLang="ko-KR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9FADAC96-6EFE-944D-BBDF-7F59DA0CE309}" type="par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7BF28EF-0894-EF42-84B8-94404AE25B11}" type="sib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7316E74-9EEE-6649-AAE2-2DB12925C22D}">
      <dgm:prSet phldrT="[Text]"/>
      <dgm:spPr/>
      <dgm:t>
        <a:bodyPr/>
        <a:lstStyle/>
        <a:p>
          <a:r>
            <a:rPr lang="en-US" altLang="ko-KR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SPC</a:t>
          </a:r>
        </a:p>
        <a:p>
          <a:r>
            <a:rPr lang="ko-KR" altLang="en-US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자산관리</a:t>
          </a:r>
          <a:endParaRPr lang="en-US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2394406-CBBD-774C-B2DC-675D496CD2AA}" type="par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13C7A2A-0960-9C4A-8B06-D9D4DDE6741E}" type="sib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4459ED89-F965-6647-A5EA-1C226BA081E5}">
      <dgm:prSet phldrT="[Text]"/>
      <dgm:spPr/>
      <dgm:t>
        <a:bodyPr/>
        <a:lstStyle/>
        <a:p>
          <a:r>
            <a:rPr lang="en-US" altLang="ko-KR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25</a:t>
          </a:r>
          <a:r>
            <a:rPr lang="ko-KR" altLang="en-US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개 업체 연합</a:t>
          </a:r>
          <a:endParaRPr lang="en-US" altLang="ko-KR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자산 제공</a:t>
          </a:r>
          <a:endParaRPr lang="en-US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6B079BC-1816-E74A-BBDE-957759A64365}" type="parTrans" cxnId="{3190F90E-85BA-CE45-ADDE-DB376DB26F53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AE3E80C-DB4A-EE4B-8860-4922D3E6BFC0}" type="sibTrans" cxnId="{3190F90E-85BA-CE45-ADDE-DB376DB26F53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30A1E102-2CE4-3C49-84BF-036529F87C51}" type="pres">
      <dgm:prSet presAssocID="{794ABA28-5CE3-2744-9815-D037A760FEA4}" presName="Name0" presStyleCnt="0">
        <dgm:presLayoutVars>
          <dgm:dir/>
          <dgm:resizeHandles val="exact"/>
        </dgm:presLayoutVars>
      </dgm:prSet>
      <dgm:spPr/>
    </dgm:pt>
    <dgm:pt modelId="{881E497F-9F35-B745-B705-76E0A444BD75}" type="pres">
      <dgm:prSet presAssocID="{7123C580-ACCC-C44D-825E-93163C0EF462}" presName="node" presStyleLbl="node1" presStyleIdx="0" presStyleCnt="4">
        <dgm:presLayoutVars>
          <dgm:bulletEnabled val="1"/>
        </dgm:presLayoutVars>
      </dgm:prSet>
      <dgm:spPr/>
    </dgm:pt>
    <dgm:pt modelId="{C971661F-1178-644B-8280-957049880D80}" type="pres">
      <dgm:prSet presAssocID="{B0B441C3-02AF-BD43-93F5-310A6D13B099}" presName="sibTrans" presStyleLbl="sibTrans2D1" presStyleIdx="0" presStyleCnt="3"/>
      <dgm:spPr/>
    </dgm:pt>
    <dgm:pt modelId="{E924C182-857B-D14A-BA5D-BCAD142A46BD}" type="pres">
      <dgm:prSet presAssocID="{B0B441C3-02AF-BD43-93F5-310A6D13B099}" presName="connectorText" presStyleLbl="sibTrans2D1" presStyleIdx="0" presStyleCnt="3"/>
      <dgm:spPr/>
    </dgm:pt>
    <dgm:pt modelId="{F2864487-6FF0-5343-A743-2E4E78E264F6}" type="pres">
      <dgm:prSet presAssocID="{187DDD7A-ECDB-CE4E-927B-BCE95948516B}" presName="node" presStyleLbl="node1" presStyleIdx="1" presStyleCnt="4">
        <dgm:presLayoutVars>
          <dgm:bulletEnabled val="1"/>
        </dgm:presLayoutVars>
      </dgm:prSet>
      <dgm:spPr/>
    </dgm:pt>
    <dgm:pt modelId="{34B7B910-AA46-BD4A-BAD1-68DE50E4FB29}" type="pres">
      <dgm:prSet presAssocID="{67BF28EF-0894-EF42-84B8-94404AE25B11}" presName="sibTrans" presStyleLbl="sibTrans2D1" presStyleIdx="1" presStyleCnt="3"/>
      <dgm:spPr/>
    </dgm:pt>
    <dgm:pt modelId="{5C90298B-6C7F-BB48-8A01-3818C54C4B11}" type="pres">
      <dgm:prSet presAssocID="{67BF28EF-0894-EF42-84B8-94404AE25B11}" presName="connectorText" presStyleLbl="sibTrans2D1" presStyleIdx="1" presStyleCnt="3"/>
      <dgm:spPr/>
    </dgm:pt>
    <dgm:pt modelId="{D4865B47-931D-AB43-B5A2-4C3509B64AA2}" type="pres">
      <dgm:prSet presAssocID="{07316E74-9EEE-6649-AAE2-2DB12925C22D}" presName="node" presStyleLbl="node1" presStyleIdx="2" presStyleCnt="4">
        <dgm:presLayoutVars>
          <dgm:bulletEnabled val="1"/>
        </dgm:presLayoutVars>
      </dgm:prSet>
      <dgm:spPr/>
    </dgm:pt>
    <dgm:pt modelId="{35D3C047-D26F-7545-A8A5-E6856B1297F4}" type="pres">
      <dgm:prSet presAssocID="{613C7A2A-0960-9C4A-8B06-D9D4DDE6741E}" presName="sibTrans" presStyleLbl="sibTrans2D1" presStyleIdx="2" presStyleCnt="3"/>
      <dgm:spPr/>
    </dgm:pt>
    <dgm:pt modelId="{BA66AEFE-8E01-D04B-81F4-2D4E4E167FC3}" type="pres">
      <dgm:prSet presAssocID="{613C7A2A-0960-9C4A-8B06-D9D4DDE6741E}" presName="connectorText" presStyleLbl="sibTrans2D1" presStyleIdx="2" presStyleCnt="3"/>
      <dgm:spPr/>
    </dgm:pt>
    <dgm:pt modelId="{AE0D6B3F-3139-0044-8FD4-D4015FACCC21}" type="pres">
      <dgm:prSet presAssocID="{4459ED89-F965-6647-A5EA-1C226BA081E5}" presName="node" presStyleLbl="node1" presStyleIdx="3" presStyleCnt="4">
        <dgm:presLayoutVars>
          <dgm:bulletEnabled val="1"/>
        </dgm:presLayoutVars>
      </dgm:prSet>
      <dgm:spPr/>
    </dgm:pt>
  </dgm:ptLst>
  <dgm:cxnLst>
    <dgm:cxn modelId="{1808EC0D-612D-9E4F-BAD7-C1063EC6C5F7}" type="presOf" srcId="{7123C580-ACCC-C44D-825E-93163C0EF462}" destId="{881E497F-9F35-B745-B705-76E0A444BD75}" srcOrd="0" destOrd="0" presId="urn:microsoft.com/office/officeart/2005/8/layout/process1"/>
    <dgm:cxn modelId="{3190F90E-85BA-CE45-ADDE-DB376DB26F53}" srcId="{794ABA28-5CE3-2744-9815-D037A760FEA4}" destId="{4459ED89-F965-6647-A5EA-1C226BA081E5}" srcOrd="3" destOrd="0" parTransId="{66B079BC-1816-E74A-BBDE-957759A64365}" sibTransId="{0AE3E80C-DB4A-EE4B-8860-4922D3E6BFC0}"/>
    <dgm:cxn modelId="{36E33C23-ADC0-6649-BE37-267E08AA649A}" type="presOf" srcId="{613C7A2A-0960-9C4A-8B06-D9D4DDE6741E}" destId="{BA66AEFE-8E01-D04B-81F4-2D4E4E167FC3}" srcOrd="1" destOrd="0" presId="urn:microsoft.com/office/officeart/2005/8/layout/process1"/>
    <dgm:cxn modelId="{0810E838-B46B-CA46-B90B-EFC180FA873F}" type="presOf" srcId="{B0B441C3-02AF-BD43-93F5-310A6D13B099}" destId="{E924C182-857B-D14A-BA5D-BCAD142A46BD}" srcOrd="1" destOrd="0" presId="urn:microsoft.com/office/officeart/2005/8/layout/process1"/>
    <dgm:cxn modelId="{70CE083E-B1E9-5040-A7F0-AEA8974F0785}" type="presOf" srcId="{187DDD7A-ECDB-CE4E-927B-BCE95948516B}" destId="{F2864487-6FF0-5343-A743-2E4E78E264F6}" srcOrd="0" destOrd="0" presId="urn:microsoft.com/office/officeart/2005/8/layout/process1"/>
    <dgm:cxn modelId="{E4BB3B41-06A3-DA4D-8698-DF4F06EC4A6B}" srcId="{794ABA28-5CE3-2744-9815-D037A760FEA4}" destId="{7123C580-ACCC-C44D-825E-93163C0EF462}" srcOrd="0" destOrd="0" parTransId="{06F584A3-ACAB-9148-B1F5-406E11AA45BC}" sibTransId="{B0B441C3-02AF-BD43-93F5-310A6D13B099}"/>
    <dgm:cxn modelId="{804CBB4B-1CBC-464F-9C85-EEC7712CBA76}" type="presOf" srcId="{794ABA28-5CE3-2744-9815-D037A760FEA4}" destId="{30A1E102-2CE4-3C49-84BF-036529F87C51}" srcOrd="0" destOrd="0" presId="urn:microsoft.com/office/officeart/2005/8/layout/process1"/>
    <dgm:cxn modelId="{33B2C354-0E27-AE48-8C12-3398D094CF80}" srcId="{794ABA28-5CE3-2744-9815-D037A760FEA4}" destId="{07316E74-9EEE-6649-AAE2-2DB12925C22D}" srcOrd="2" destOrd="0" parTransId="{12394406-CBBD-774C-B2DC-675D496CD2AA}" sibTransId="{613C7A2A-0960-9C4A-8B06-D9D4DDE6741E}"/>
    <dgm:cxn modelId="{55BF606E-D572-B246-A122-913EFB2FC588}" type="presOf" srcId="{4459ED89-F965-6647-A5EA-1C226BA081E5}" destId="{AE0D6B3F-3139-0044-8FD4-D4015FACCC21}" srcOrd="0" destOrd="0" presId="urn:microsoft.com/office/officeart/2005/8/layout/process1"/>
    <dgm:cxn modelId="{F011C171-E788-FB4A-A1D2-270341B1E11D}" srcId="{794ABA28-5CE3-2744-9815-D037A760FEA4}" destId="{187DDD7A-ECDB-CE4E-927B-BCE95948516B}" srcOrd="1" destOrd="0" parTransId="{9FADAC96-6EFE-944D-BBDF-7F59DA0CE309}" sibTransId="{67BF28EF-0894-EF42-84B8-94404AE25B11}"/>
    <dgm:cxn modelId="{30F512C1-FBFF-F041-B647-A2BD3245D00E}" type="presOf" srcId="{B0B441C3-02AF-BD43-93F5-310A6D13B099}" destId="{C971661F-1178-644B-8280-957049880D80}" srcOrd="0" destOrd="0" presId="urn:microsoft.com/office/officeart/2005/8/layout/process1"/>
    <dgm:cxn modelId="{AEA42FC8-370D-564A-AACE-D685099F4CC4}" type="presOf" srcId="{67BF28EF-0894-EF42-84B8-94404AE25B11}" destId="{5C90298B-6C7F-BB48-8A01-3818C54C4B11}" srcOrd="1" destOrd="0" presId="urn:microsoft.com/office/officeart/2005/8/layout/process1"/>
    <dgm:cxn modelId="{765214CD-8771-5541-8065-05E4104775E0}" type="presOf" srcId="{67BF28EF-0894-EF42-84B8-94404AE25B11}" destId="{34B7B910-AA46-BD4A-BAD1-68DE50E4FB29}" srcOrd="0" destOrd="0" presId="urn:microsoft.com/office/officeart/2005/8/layout/process1"/>
    <dgm:cxn modelId="{012E45D6-B71C-544F-B6AD-F18403F4CF64}" type="presOf" srcId="{613C7A2A-0960-9C4A-8B06-D9D4DDE6741E}" destId="{35D3C047-D26F-7545-A8A5-E6856B1297F4}" srcOrd="0" destOrd="0" presId="urn:microsoft.com/office/officeart/2005/8/layout/process1"/>
    <dgm:cxn modelId="{9D7B77F4-4B1A-8049-ABCE-E07C936CE2E1}" type="presOf" srcId="{07316E74-9EEE-6649-AAE2-2DB12925C22D}" destId="{D4865B47-931D-AB43-B5A2-4C3509B64AA2}" srcOrd="0" destOrd="0" presId="urn:microsoft.com/office/officeart/2005/8/layout/process1"/>
    <dgm:cxn modelId="{BD0D95A2-65A6-6F4D-876C-36E13F0A507F}" type="presParOf" srcId="{30A1E102-2CE4-3C49-84BF-036529F87C51}" destId="{881E497F-9F35-B745-B705-76E0A444BD75}" srcOrd="0" destOrd="0" presId="urn:microsoft.com/office/officeart/2005/8/layout/process1"/>
    <dgm:cxn modelId="{A5272555-3AB5-6646-AD5D-CB1D279944B6}" type="presParOf" srcId="{30A1E102-2CE4-3C49-84BF-036529F87C51}" destId="{C971661F-1178-644B-8280-957049880D80}" srcOrd="1" destOrd="0" presId="urn:microsoft.com/office/officeart/2005/8/layout/process1"/>
    <dgm:cxn modelId="{845F59A0-6927-AB47-999D-A6E96C9809A2}" type="presParOf" srcId="{C971661F-1178-644B-8280-957049880D80}" destId="{E924C182-857B-D14A-BA5D-BCAD142A46BD}" srcOrd="0" destOrd="0" presId="urn:microsoft.com/office/officeart/2005/8/layout/process1"/>
    <dgm:cxn modelId="{95A4EB89-E1F8-D149-935A-65A2214B4712}" type="presParOf" srcId="{30A1E102-2CE4-3C49-84BF-036529F87C51}" destId="{F2864487-6FF0-5343-A743-2E4E78E264F6}" srcOrd="2" destOrd="0" presId="urn:microsoft.com/office/officeart/2005/8/layout/process1"/>
    <dgm:cxn modelId="{E2DABA3B-3C00-3B47-B5FC-9ACA11A3CA04}" type="presParOf" srcId="{30A1E102-2CE4-3C49-84BF-036529F87C51}" destId="{34B7B910-AA46-BD4A-BAD1-68DE50E4FB29}" srcOrd="3" destOrd="0" presId="urn:microsoft.com/office/officeart/2005/8/layout/process1"/>
    <dgm:cxn modelId="{99CE3DF1-6CB4-064B-A031-166F8AD1512E}" type="presParOf" srcId="{34B7B910-AA46-BD4A-BAD1-68DE50E4FB29}" destId="{5C90298B-6C7F-BB48-8A01-3818C54C4B11}" srcOrd="0" destOrd="0" presId="urn:microsoft.com/office/officeart/2005/8/layout/process1"/>
    <dgm:cxn modelId="{5A36F37D-8772-3847-B7C3-79E0A6EC2C25}" type="presParOf" srcId="{30A1E102-2CE4-3C49-84BF-036529F87C51}" destId="{D4865B47-931D-AB43-B5A2-4C3509B64AA2}" srcOrd="4" destOrd="0" presId="urn:microsoft.com/office/officeart/2005/8/layout/process1"/>
    <dgm:cxn modelId="{CC032867-8AE1-9B45-8729-BF627074FAED}" type="presParOf" srcId="{30A1E102-2CE4-3C49-84BF-036529F87C51}" destId="{35D3C047-D26F-7545-A8A5-E6856B1297F4}" srcOrd="5" destOrd="0" presId="urn:microsoft.com/office/officeart/2005/8/layout/process1"/>
    <dgm:cxn modelId="{8387861C-3BFD-A547-9021-B72515823110}" type="presParOf" srcId="{35D3C047-D26F-7545-A8A5-E6856B1297F4}" destId="{BA66AEFE-8E01-D04B-81F4-2D4E4E167FC3}" srcOrd="0" destOrd="0" presId="urn:microsoft.com/office/officeart/2005/8/layout/process1"/>
    <dgm:cxn modelId="{A2A4955B-D8F2-4D4D-9131-C4CA60B831F1}" type="presParOf" srcId="{30A1E102-2CE4-3C49-84BF-036529F87C51}" destId="{AE0D6B3F-3139-0044-8FD4-D4015FACCC2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4ABA28-5CE3-2744-9815-D037A760FEA4}" type="doc">
      <dgm:prSet loTypeId="urn:microsoft.com/office/officeart/2005/8/layout/venn3" loCatId="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123C580-ACCC-C44D-825E-93163C0EF462}">
      <dgm:prSet phldrT="[Text]" custT="1"/>
      <dgm:spPr/>
      <dgm:t>
        <a:bodyPr/>
        <a:lstStyle/>
        <a:p>
          <a:r>
            <a:rPr lang="ko-KR" alt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강해집니다</a:t>
          </a:r>
          <a:endParaRPr lang="en-US" altLang="ko-KR" sz="11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en-US" altLang="ko-KR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2,000</a:t>
          </a:r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 자산으로 신용도 최고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위험분산으로 안전성 확보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대형 투자자들과 직접 거래</a:t>
          </a:r>
          <a:endParaRPr lang="en-US" sz="10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6F584A3-ACAB-9148-B1F5-406E11AA45BC}" type="par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B0B441C3-02AF-BD43-93F5-310A6D13B099}" type="sibTrans" cxnId="{E4BB3B41-06A3-DA4D-8698-DF4F06EC4A6B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87DDD7A-ECDB-CE4E-927B-BCE95948516B}">
      <dgm:prSet phldrT="[Text]" custT="1"/>
      <dgm:spPr/>
      <dgm:t>
        <a:bodyPr/>
        <a:lstStyle/>
        <a:p>
          <a:r>
            <a:rPr lang="ko-KR" alt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빨라집니다</a:t>
          </a:r>
          <a:endParaRPr lang="en-US" altLang="ko-KR" sz="11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대규모 자금 즉시 확보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걱정 없이 사업 확장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업계 최초 혁신으로 선점 효과</a:t>
          </a:r>
          <a:endParaRPr lang="en-US" altLang="ko-KR" sz="10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9FADAC96-6EFE-944D-BBDF-7F59DA0CE309}" type="par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7BF28EF-0894-EF42-84B8-94404AE25B11}" type="sibTrans" cxnId="{F011C171-E788-FB4A-A1D2-270341B1E11D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07316E74-9EEE-6649-AAE2-2DB12925C22D}">
      <dgm:prSet phldrT="[Text]" custT="1"/>
      <dgm:spPr/>
      <dgm:t>
        <a:bodyPr/>
        <a:lstStyle/>
        <a:p>
          <a:r>
            <a:rPr lang="ko-KR" altLang="en-US" sz="11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커집니다</a:t>
          </a:r>
          <a:endParaRPr lang="en-US" altLang="ko-KR" sz="11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en-US" altLang="ko-KR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10</a:t>
          </a:r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배 큰 규모로 협상력 극대화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시장 점유율 확대로 독점력 확보</a:t>
          </a:r>
          <a:endParaRPr lang="en-US" altLang="ko-KR" sz="10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연간 </a:t>
          </a:r>
          <a:r>
            <a:rPr lang="en-US" altLang="ko-KR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30</a:t>
          </a:r>
          <a:r>
            <a:rPr lang="ko-KR" altLang="en-US" sz="10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 절약으로 재투자 가능</a:t>
          </a:r>
          <a:endParaRPr lang="en-US" sz="10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12394406-CBBD-774C-B2DC-675D496CD2AA}" type="par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613C7A2A-0960-9C4A-8B06-D9D4DDE6741E}" type="sibTrans" cxnId="{33B2C354-0E27-AE48-8C12-3398D094CF80}">
      <dgm:prSet/>
      <dgm:spPr/>
      <dgm:t>
        <a:bodyPr/>
        <a:lstStyle/>
        <a:p>
          <a:endParaRPr lang="en-US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gm:t>
    </dgm:pt>
    <dgm:pt modelId="{B5F0210A-366C-C140-8A03-9F5166D0F524}" type="pres">
      <dgm:prSet presAssocID="{794ABA28-5CE3-2744-9815-D037A760FEA4}" presName="Name0" presStyleCnt="0">
        <dgm:presLayoutVars>
          <dgm:dir/>
          <dgm:resizeHandles val="exact"/>
        </dgm:presLayoutVars>
      </dgm:prSet>
      <dgm:spPr/>
    </dgm:pt>
    <dgm:pt modelId="{8E9F8509-2832-F740-8C38-C82B6C9DFEC4}" type="pres">
      <dgm:prSet presAssocID="{7123C580-ACCC-C44D-825E-93163C0EF462}" presName="Name5" presStyleLbl="vennNode1" presStyleIdx="0" presStyleCnt="3">
        <dgm:presLayoutVars>
          <dgm:bulletEnabled val="1"/>
        </dgm:presLayoutVars>
      </dgm:prSet>
      <dgm:spPr/>
    </dgm:pt>
    <dgm:pt modelId="{CC1415F4-C91B-DA46-BC33-57C14CF9ED58}" type="pres">
      <dgm:prSet presAssocID="{B0B441C3-02AF-BD43-93F5-310A6D13B099}" presName="space" presStyleCnt="0"/>
      <dgm:spPr/>
    </dgm:pt>
    <dgm:pt modelId="{F0C43D57-4553-5F46-9D14-9D0188DE3537}" type="pres">
      <dgm:prSet presAssocID="{187DDD7A-ECDB-CE4E-927B-BCE95948516B}" presName="Name5" presStyleLbl="vennNode1" presStyleIdx="1" presStyleCnt="3">
        <dgm:presLayoutVars>
          <dgm:bulletEnabled val="1"/>
        </dgm:presLayoutVars>
      </dgm:prSet>
      <dgm:spPr/>
    </dgm:pt>
    <dgm:pt modelId="{4FDD8273-F542-204F-BF32-D7791BD11C5D}" type="pres">
      <dgm:prSet presAssocID="{67BF28EF-0894-EF42-84B8-94404AE25B11}" presName="space" presStyleCnt="0"/>
      <dgm:spPr/>
    </dgm:pt>
    <dgm:pt modelId="{451DEBE2-2BE7-8E46-AACB-3B863AB883FC}" type="pres">
      <dgm:prSet presAssocID="{07316E74-9EEE-6649-AAE2-2DB12925C22D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5AC99712-DC4A-2D48-8991-E34D601877DD}" type="presOf" srcId="{187DDD7A-ECDB-CE4E-927B-BCE95948516B}" destId="{F0C43D57-4553-5F46-9D14-9D0188DE3537}" srcOrd="0" destOrd="0" presId="urn:microsoft.com/office/officeart/2005/8/layout/venn3"/>
    <dgm:cxn modelId="{0ABEE23E-62F9-D74B-9F59-335B323D89C1}" type="presOf" srcId="{7123C580-ACCC-C44D-825E-93163C0EF462}" destId="{8E9F8509-2832-F740-8C38-C82B6C9DFEC4}" srcOrd="0" destOrd="0" presId="urn:microsoft.com/office/officeart/2005/8/layout/venn3"/>
    <dgm:cxn modelId="{E4BB3B41-06A3-DA4D-8698-DF4F06EC4A6B}" srcId="{794ABA28-5CE3-2744-9815-D037A760FEA4}" destId="{7123C580-ACCC-C44D-825E-93163C0EF462}" srcOrd="0" destOrd="0" parTransId="{06F584A3-ACAB-9148-B1F5-406E11AA45BC}" sibTransId="{B0B441C3-02AF-BD43-93F5-310A6D13B099}"/>
    <dgm:cxn modelId="{5639FE43-2D13-0A42-9579-D088043A2CC5}" type="presOf" srcId="{794ABA28-5CE3-2744-9815-D037A760FEA4}" destId="{B5F0210A-366C-C140-8A03-9F5166D0F524}" srcOrd="0" destOrd="0" presId="urn:microsoft.com/office/officeart/2005/8/layout/venn3"/>
    <dgm:cxn modelId="{33B2C354-0E27-AE48-8C12-3398D094CF80}" srcId="{794ABA28-5CE3-2744-9815-D037A760FEA4}" destId="{07316E74-9EEE-6649-AAE2-2DB12925C22D}" srcOrd="2" destOrd="0" parTransId="{12394406-CBBD-774C-B2DC-675D496CD2AA}" sibTransId="{613C7A2A-0960-9C4A-8B06-D9D4DDE6741E}"/>
    <dgm:cxn modelId="{F011C171-E788-FB4A-A1D2-270341B1E11D}" srcId="{794ABA28-5CE3-2744-9815-D037A760FEA4}" destId="{187DDD7A-ECDB-CE4E-927B-BCE95948516B}" srcOrd="1" destOrd="0" parTransId="{9FADAC96-6EFE-944D-BBDF-7F59DA0CE309}" sibTransId="{67BF28EF-0894-EF42-84B8-94404AE25B11}"/>
    <dgm:cxn modelId="{BC8C61A2-3349-9F47-A0E0-2CACDEA76354}" type="presOf" srcId="{07316E74-9EEE-6649-AAE2-2DB12925C22D}" destId="{451DEBE2-2BE7-8E46-AACB-3B863AB883FC}" srcOrd="0" destOrd="0" presId="urn:microsoft.com/office/officeart/2005/8/layout/venn3"/>
    <dgm:cxn modelId="{911655DE-23D8-2F4A-8009-B0BFD193E001}" type="presParOf" srcId="{B5F0210A-366C-C140-8A03-9F5166D0F524}" destId="{8E9F8509-2832-F740-8C38-C82B6C9DFEC4}" srcOrd="0" destOrd="0" presId="urn:microsoft.com/office/officeart/2005/8/layout/venn3"/>
    <dgm:cxn modelId="{E181837B-E414-EB4A-B03B-6502D5FAE426}" type="presParOf" srcId="{B5F0210A-366C-C140-8A03-9F5166D0F524}" destId="{CC1415F4-C91B-DA46-BC33-57C14CF9ED58}" srcOrd="1" destOrd="0" presId="urn:microsoft.com/office/officeart/2005/8/layout/venn3"/>
    <dgm:cxn modelId="{BA62CF2D-26AE-6942-B5D9-B25D3AB092C3}" type="presParOf" srcId="{B5F0210A-366C-C140-8A03-9F5166D0F524}" destId="{F0C43D57-4553-5F46-9D14-9D0188DE3537}" srcOrd="2" destOrd="0" presId="urn:microsoft.com/office/officeart/2005/8/layout/venn3"/>
    <dgm:cxn modelId="{6720E340-29D1-F149-A1C3-4046CF0AF32E}" type="presParOf" srcId="{B5F0210A-366C-C140-8A03-9F5166D0F524}" destId="{4FDD8273-F542-204F-BF32-D7791BD11C5D}" srcOrd="3" destOrd="0" presId="urn:microsoft.com/office/officeart/2005/8/layout/venn3"/>
    <dgm:cxn modelId="{03EF71FE-6EFE-A844-ACC0-B527EBECE7FB}" type="presParOf" srcId="{B5F0210A-366C-C140-8A03-9F5166D0F524}" destId="{451DEBE2-2BE7-8E46-AACB-3B863AB883FC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F8509-2832-F740-8C38-C82B6C9DFEC4}">
      <dsp:nvSpPr>
        <dsp:cNvPr id="0" name=""/>
        <dsp:cNvSpPr/>
      </dsp:nvSpPr>
      <dsp:spPr>
        <a:xfrm>
          <a:off x="1324189" y="863"/>
          <a:ext cx="1653974" cy="1653974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024" tIns="22860" rIns="9102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연간손실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8.25</a:t>
          </a:r>
          <a:r>
            <a:rPr lang="ko-KR" altLang="en-US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억원</a:t>
          </a:r>
          <a:endParaRPr lang="en-US" sz="1800" kern="1200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1566408" y="243082"/>
        <a:ext cx="1169536" cy="1169536"/>
      </dsp:txXfrm>
    </dsp:sp>
    <dsp:sp modelId="{F0C43D57-4553-5F46-9D14-9D0188DE3537}">
      <dsp:nvSpPr>
        <dsp:cNvPr id="0" name=""/>
        <dsp:cNvSpPr/>
      </dsp:nvSpPr>
      <dsp:spPr>
        <a:xfrm>
          <a:off x="2647369" y="863"/>
          <a:ext cx="1653974" cy="1653974"/>
        </a:xfrm>
        <a:prstGeom prst="ellipse">
          <a:avLst/>
        </a:prstGeom>
        <a:solidFill>
          <a:schemeClr val="accent2">
            <a:alpha val="50000"/>
            <a:hueOff val="1560507"/>
            <a:satOff val="-1946"/>
            <a:lumOff val="45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024" tIns="22860" rIns="9102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신용등급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BB+ (</a:t>
          </a:r>
          <a:r>
            <a:rPr lang="ko-KR" altLang="en-US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보통</a:t>
          </a:r>
          <a:r>
            <a:rPr lang="en-US" altLang="ko-KR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)</a:t>
          </a:r>
        </a:p>
      </dsp:txBody>
      <dsp:txXfrm>
        <a:off x="2889588" y="243082"/>
        <a:ext cx="1169536" cy="1169536"/>
      </dsp:txXfrm>
    </dsp:sp>
    <dsp:sp modelId="{451DEBE2-2BE7-8E46-AACB-3B863AB883FC}">
      <dsp:nvSpPr>
        <dsp:cNvPr id="0" name=""/>
        <dsp:cNvSpPr/>
      </dsp:nvSpPr>
      <dsp:spPr>
        <a:xfrm>
          <a:off x="3970549" y="863"/>
          <a:ext cx="1653974" cy="1653974"/>
        </a:xfrm>
        <a:prstGeom prst="ellipse">
          <a:avLst/>
        </a:prstGeom>
        <a:solidFill>
          <a:schemeClr val="accent2">
            <a:alpha val="50000"/>
            <a:hueOff val="3121013"/>
            <a:satOff val="-3893"/>
            <a:lumOff val="91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024" tIns="22860" rIns="9102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투자자 선택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제한적</a:t>
          </a:r>
          <a:endParaRPr lang="en-US" sz="1800" kern="1200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4212768" y="243082"/>
        <a:ext cx="1169536" cy="1169536"/>
      </dsp:txXfrm>
    </dsp:sp>
    <dsp:sp modelId="{E399C723-E7D8-B441-9727-E89E161CA31F}">
      <dsp:nvSpPr>
        <dsp:cNvPr id="0" name=""/>
        <dsp:cNvSpPr/>
      </dsp:nvSpPr>
      <dsp:spPr>
        <a:xfrm>
          <a:off x="5293728" y="863"/>
          <a:ext cx="1653974" cy="1653974"/>
        </a:xfrm>
        <a:prstGeom prst="ellipse">
          <a:avLst/>
        </a:prstGeom>
        <a:solidFill>
          <a:schemeClr val="accent2">
            <a:alpha val="50000"/>
            <a:hueOff val="4681520"/>
            <a:satOff val="-5839"/>
            <a:lumOff val="1373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91024" tIns="22860" rIns="91024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협상력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미약</a:t>
          </a:r>
          <a:endParaRPr lang="en-US" sz="1800" kern="1200" dirty="0">
            <a:solidFill>
              <a:srgbClr val="FF00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5535947" y="243082"/>
        <a:ext cx="1169536" cy="1169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E497F-9F35-B745-B705-76E0A444BD75}">
      <dsp:nvSpPr>
        <dsp:cNvPr id="0" name=""/>
        <dsp:cNvSpPr/>
      </dsp:nvSpPr>
      <dsp:spPr>
        <a:xfrm>
          <a:off x="3635" y="351045"/>
          <a:ext cx="1589350" cy="9536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기관투자가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제공</a:t>
          </a:r>
          <a:endParaRPr lang="en-US" sz="1800" kern="1200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31565" y="378975"/>
        <a:ext cx="1533490" cy="897750"/>
      </dsp:txXfrm>
    </dsp:sp>
    <dsp:sp modelId="{C971661F-1178-644B-8280-957049880D80}">
      <dsp:nvSpPr>
        <dsp:cNvPr id="0" name=""/>
        <dsp:cNvSpPr/>
      </dsp:nvSpPr>
      <dsp:spPr>
        <a:xfrm>
          <a:off x="1751920" y="630771"/>
          <a:ext cx="336942" cy="3941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1751920" y="709603"/>
        <a:ext cx="235859" cy="236494"/>
      </dsp:txXfrm>
    </dsp:sp>
    <dsp:sp modelId="{F2864487-6FF0-5343-A743-2E4E78E264F6}">
      <dsp:nvSpPr>
        <dsp:cNvPr id="0" name=""/>
        <dsp:cNvSpPr/>
      </dsp:nvSpPr>
      <dsp:spPr>
        <a:xfrm>
          <a:off x="2228725" y="351045"/>
          <a:ext cx="1589350" cy="9536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60507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7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7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증권발행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조달</a:t>
          </a:r>
          <a:endParaRPr lang="en-US" altLang="ko-KR" sz="1800" kern="1200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2256655" y="378975"/>
        <a:ext cx="1533490" cy="897750"/>
      </dsp:txXfrm>
    </dsp:sp>
    <dsp:sp modelId="{34B7B910-AA46-BD4A-BAD1-68DE50E4FB29}">
      <dsp:nvSpPr>
        <dsp:cNvPr id="0" name=""/>
        <dsp:cNvSpPr/>
      </dsp:nvSpPr>
      <dsp:spPr>
        <a:xfrm>
          <a:off x="3977011" y="630771"/>
          <a:ext cx="336942" cy="3941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340760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60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60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3977011" y="709603"/>
        <a:ext cx="235859" cy="236494"/>
      </dsp:txXfrm>
    </dsp:sp>
    <dsp:sp modelId="{D4865B47-931D-AB43-B5A2-4C3509B64AA2}">
      <dsp:nvSpPr>
        <dsp:cNvPr id="0" name=""/>
        <dsp:cNvSpPr/>
      </dsp:nvSpPr>
      <dsp:spPr>
        <a:xfrm>
          <a:off x="4453816" y="351045"/>
          <a:ext cx="1589350" cy="9536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SPC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자산관리</a:t>
          </a:r>
          <a:endParaRPr lang="en-US" sz="1800" kern="1200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4481746" y="378975"/>
        <a:ext cx="1533490" cy="897750"/>
      </dsp:txXfrm>
    </dsp:sp>
    <dsp:sp modelId="{35D3C047-D26F-7545-A8A5-E6856B1297F4}">
      <dsp:nvSpPr>
        <dsp:cNvPr id="0" name=""/>
        <dsp:cNvSpPr/>
      </dsp:nvSpPr>
      <dsp:spPr>
        <a:xfrm>
          <a:off x="6202102" y="630771"/>
          <a:ext cx="336942" cy="3941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6202102" y="709603"/>
        <a:ext cx="235859" cy="236494"/>
      </dsp:txXfrm>
    </dsp:sp>
    <dsp:sp modelId="{AE0D6B3F-3139-0044-8FD4-D4015FACCC21}">
      <dsp:nvSpPr>
        <dsp:cNvPr id="0" name=""/>
        <dsp:cNvSpPr/>
      </dsp:nvSpPr>
      <dsp:spPr>
        <a:xfrm>
          <a:off x="6678907" y="351045"/>
          <a:ext cx="1589350" cy="9536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25</a:t>
          </a:r>
          <a:r>
            <a:rPr lang="ko-KR" altLang="en-US" sz="1800" kern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개 업체 연합</a:t>
          </a:r>
          <a:endParaRPr lang="en-US" altLang="ko-KR" sz="18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rgbClr val="FFFF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자산 제공</a:t>
          </a:r>
          <a:endParaRPr lang="en-US" sz="1800" kern="1200" dirty="0">
            <a:solidFill>
              <a:srgbClr val="FFFF00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6706837" y="378975"/>
        <a:ext cx="1533490" cy="8977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F8509-2832-F740-8C38-C82B6C9DFEC4}">
      <dsp:nvSpPr>
        <dsp:cNvPr id="0" name=""/>
        <dsp:cNvSpPr/>
      </dsp:nvSpPr>
      <dsp:spPr>
        <a:xfrm>
          <a:off x="712481" y="1328"/>
          <a:ext cx="2633434" cy="2633434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44927" tIns="13970" rIns="14492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강해집니다</a:t>
          </a:r>
          <a:endParaRPr lang="en-US" altLang="ko-KR" sz="11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2,000</a:t>
          </a: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 자산으로 신용도 최고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위험분산으로 안전성 확보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대형 투자자들과 직접 거래</a:t>
          </a:r>
          <a:endParaRPr lang="en-US" sz="10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1098138" y="386985"/>
        <a:ext cx="1862120" cy="1862120"/>
      </dsp:txXfrm>
    </dsp:sp>
    <dsp:sp modelId="{F0C43D57-4553-5F46-9D14-9D0188DE3537}">
      <dsp:nvSpPr>
        <dsp:cNvPr id="0" name=""/>
        <dsp:cNvSpPr/>
      </dsp:nvSpPr>
      <dsp:spPr>
        <a:xfrm>
          <a:off x="2819229" y="1328"/>
          <a:ext cx="2633434" cy="2633434"/>
        </a:xfrm>
        <a:prstGeom prst="ellipse">
          <a:avLst/>
        </a:prstGeom>
        <a:solidFill>
          <a:schemeClr val="accent5">
            <a:alpha val="50000"/>
            <a:hueOff val="-4966938"/>
            <a:satOff val="19906"/>
            <a:lumOff val="431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44927" tIns="13970" rIns="14492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빨라집니다</a:t>
          </a:r>
          <a:endParaRPr lang="en-US" altLang="ko-KR" sz="11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대규모 자금 즉시 확보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자금 걱정 없이 사업 확장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업계 최초 혁신으로 선점 효과</a:t>
          </a:r>
          <a:endParaRPr lang="en-US" altLang="ko-KR" sz="10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3204886" y="386985"/>
        <a:ext cx="1862120" cy="1862120"/>
      </dsp:txXfrm>
    </dsp:sp>
    <dsp:sp modelId="{451DEBE2-2BE7-8E46-AACB-3B863AB883FC}">
      <dsp:nvSpPr>
        <dsp:cNvPr id="0" name=""/>
        <dsp:cNvSpPr/>
      </dsp:nvSpPr>
      <dsp:spPr>
        <a:xfrm>
          <a:off x="4925976" y="1328"/>
          <a:ext cx="2633434" cy="2633434"/>
        </a:xfrm>
        <a:prstGeom prst="ellipse">
          <a:avLst/>
        </a:prstGeom>
        <a:solidFill>
          <a:schemeClr val="accent5">
            <a:alpha val="50000"/>
            <a:hueOff val="-9933876"/>
            <a:satOff val="39811"/>
            <a:lumOff val="862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44927" tIns="13970" rIns="144927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더 커집니다</a:t>
          </a:r>
          <a:endParaRPr lang="en-US" altLang="ko-KR" sz="1100" kern="1200"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10</a:t>
          </a: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배 큰 규모로 협상력 극대화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시장 점유율 확대로 독점력 확보</a:t>
          </a:r>
          <a:endParaRPr lang="en-US" altLang="ko-KR" sz="1000" kern="120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연간 </a:t>
          </a:r>
          <a:r>
            <a:rPr lang="en-US" altLang="ko-KR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30</a:t>
          </a:r>
          <a:r>
            <a:rPr lang="ko-KR" altLang="en-US" sz="1000" kern="120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rPr>
            <a:t>억 절약으로 재투자 가능</a:t>
          </a:r>
          <a:endParaRPr lang="en-US" sz="1000" kern="1200" dirty="0">
            <a:solidFill>
              <a:schemeClr val="bg1"/>
            </a:solidFill>
            <a:latin typeface="Pretendard" panose="02000503000000020004" pitchFamily="2" charset="-127"/>
            <a:ea typeface="Pretendard" panose="02000503000000020004" pitchFamily="2" charset="-127"/>
            <a:cs typeface="Pretendard" panose="02000503000000020004" pitchFamily="2" charset="-127"/>
          </a:endParaRPr>
        </a:p>
      </dsp:txBody>
      <dsp:txXfrm>
        <a:off x="5311633" y="386985"/>
        <a:ext cx="1862120" cy="1862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07ACCAD-F4F4-4FF3-95D7-D0B7577B541A}" type="datetimeFigureOut">
              <a:rPr lang="ko-KR" altLang="en-US"/>
              <a:pPr>
                <a:defRPr/>
              </a:pPr>
              <a:t>2025. 8. 16.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7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96F41D1-6E6B-4242-AE40-083C67850DB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8373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6F386B0-E796-493E-9486-116C1056CC23}" type="datetimeFigureOut">
              <a:rPr lang="ko-KR" altLang="en-US"/>
              <a:pPr>
                <a:defRPr/>
              </a:pPr>
              <a:t>2025. 8. 16.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09" tIns="45855" rIns="91709" bIns="45855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709" tIns="45855" rIns="91709" bIns="4585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4"/>
            <a:ext cx="2945659" cy="496332"/>
          </a:xfrm>
          <a:prstGeom prst="rect">
            <a:avLst/>
          </a:prstGeom>
        </p:spPr>
        <p:txBody>
          <a:bodyPr vert="horz" lIns="91709" tIns="45855" rIns="91709" bIns="4585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DD8EC9-51E1-4847-9D6D-FA617BA0827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5454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7494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853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4634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1676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70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6A870-4F5B-F6DD-05D7-433AB0F06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20A500-8208-EA42-2664-50911CC639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182A0E-E9EA-A988-395E-EC7332CE7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24A5A4-FD8E-7B03-EBBB-ED8F13D6B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740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8671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692D2-794A-8CF1-B836-B97C7893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6BFA61-A186-D291-137C-D245BCD92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CBE2DF-74DE-24EA-B43F-1D5581C39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F664B-D93B-EA51-F887-7952757DB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8022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52C0B-E130-A404-FB79-6F6AAA69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CA99C7-447F-9913-25BE-96E9E5271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1098AA-5EA4-251B-36DC-B548A74AF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34E3A-96A0-C430-DE9C-DCA19EFAF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7575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9605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DD8EC9-51E1-4847-9D6D-FA617BA0827F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083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C:\Users\jh429.baek\Desktop\표지7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" y="-8774"/>
            <a:ext cx="9151620" cy="688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1601670" y="6153619"/>
            <a:ext cx="5592237" cy="5984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本 자료의 모든 저작권은 삼성생명에 있으며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삼성생명의 동의 없이 어떠한 경우에도 복제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배포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변형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대여 할 수 없습니다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本 자료는 제한된 정보와 多數의 假定을 바탕으로 보편적이고 일반적인 기준에 의해서 작성된 바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個個의 사안에 따라 실제와는 차이가 있거나  다를 수 있습니다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따라서 本 자료는 참고 수준으로만 활용하시기 바라며 보다 구체적인 내용이 요구되거나 實行을 수반하는 경우에는 반드시  해당분야의 전문가로부터 자문을 구하시기 바랍니다</a:t>
            </a:r>
            <a:r>
              <a:rPr kumimoji="0" lang="en-US" altLang="ko-KR" sz="700" spc="-2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6091571"/>
            <a:ext cx="1490292" cy="541608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7947375" y="42198"/>
            <a:ext cx="1125125" cy="182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98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jh429.baek\Desktop\표지7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9144000" cy="68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 userDrawn="1"/>
        </p:nvSpPr>
        <p:spPr>
          <a:xfrm>
            <a:off x="7992380" y="42197"/>
            <a:ext cx="1080120" cy="236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525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jh429.baek\Desktop\5A0A884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" t="2486" r="36188"/>
          <a:stretch/>
        </p:blipFill>
        <p:spPr bwMode="auto">
          <a:xfrm>
            <a:off x="2412591" y="-3630"/>
            <a:ext cx="6731411" cy="645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15"/>
          <p:cNvSpPr/>
          <p:nvPr userDrawn="1"/>
        </p:nvSpPr>
        <p:spPr>
          <a:xfrm>
            <a:off x="1" y="3412"/>
            <a:ext cx="9135104" cy="6854588"/>
          </a:xfrm>
          <a:prstGeom prst="rect">
            <a:avLst/>
          </a:prstGeom>
          <a:gradFill>
            <a:gsLst>
              <a:gs pos="0">
                <a:schemeClr val="accent1">
                  <a:alpha val="15000"/>
                  <a:lumMod val="0"/>
                </a:schemeClr>
              </a:gs>
              <a:gs pos="0">
                <a:schemeClr val="accent1">
                  <a:alpha val="30000"/>
                  <a:lumMod val="5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Freeform 8"/>
          <p:cNvSpPr/>
          <p:nvPr userDrawn="1"/>
        </p:nvSpPr>
        <p:spPr>
          <a:xfrm rot="19800000">
            <a:off x="5493273" y="-664960"/>
            <a:ext cx="570044" cy="7781700"/>
          </a:xfrm>
          <a:custGeom>
            <a:avLst/>
            <a:gdLst>
              <a:gd name="connsiteX0" fmla="*/ 717343 w 717343"/>
              <a:gd name="connsiteY0" fmla="*/ 414158 h 8335672"/>
              <a:gd name="connsiteX1" fmla="*/ 717343 w 717343"/>
              <a:gd name="connsiteY1" fmla="*/ 8335672 h 8335672"/>
              <a:gd name="connsiteX2" fmla="*/ 0 w 717343"/>
              <a:gd name="connsiteY2" fmla="*/ 7921513 h 8335672"/>
              <a:gd name="connsiteX3" fmla="*/ 0 w 717343"/>
              <a:gd name="connsiteY3" fmla="*/ 0 h 8335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343" h="8335672">
                <a:moveTo>
                  <a:pt x="717343" y="414158"/>
                </a:moveTo>
                <a:lnTo>
                  <a:pt x="717343" y="8335672"/>
                </a:lnTo>
                <a:lnTo>
                  <a:pt x="0" y="792151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5000">
                <a:schemeClr val="tx2">
                  <a:lumMod val="50000"/>
                </a:schemeClr>
              </a:gs>
              <a:gs pos="0">
                <a:srgbClr val="17181A">
                  <a:alpha val="0"/>
                </a:srgbClr>
              </a:gs>
              <a:gs pos="100000">
                <a:srgbClr val="17181A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350" dirty="0"/>
          </a:p>
        </p:txBody>
      </p:sp>
      <p:sp>
        <p:nvSpPr>
          <p:cNvPr id="12" name="Freeform 27"/>
          <p:cNvSpPr/>
          <p:nvPr userDrawn="1"/>
        </p:nvSpPr>
        <p:spPr>
          <a:xfrm>
            <a:off x="1" y="-3629"/>
            <a:ext cx="7855568" cy="6459038"/>
          </a:xfrm>
          <a:custGeom>
            <a:avLst/>
            <a:gdLst>
              <a:gd name="connsiteX0" fmla="*/ 0 w 10318750"/>
              <a:gd name="connsiteY0" fmla="*/ 0 h 6857999"/>
              <a:gd name="connsiteX1" fmla="*/ 4997450 w 10318750"/>
              <a:gd name="connsiteY1" fmla="*/ 0 h 6857999"/>
              <a:gd name="connsiteX2" fmla="*/ 10318750 w 10318750"/>
              <a:gd name="connsiteY2" fmla="*/ 6857999 h 6857999"/>
              <a:gd name="connsiteX3" fmla="*/ 4997450 w 10318750"/>
              <a:gd name="connsiteY3" fmla="*/ 6857999 h 6857999"/>
              <a:gd name="connsiteX4" fmla="*/ 0 w 1031875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8750" h="6857999">
                <a:moveTo>
                  <a:pt x="0" y="0"/>
                </a:moveTo>
                <a:lnTo>
                  <a:pt x="4997450" y="0"/>
                </a:lnTo>
                <a:lnTo>
                  <a:pt x="10318750" y="6857999"/>
                </a:lnTo>
                <a:lnTo>
                  <a:pt x="499745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7970557" y="42197"/>
            <a:ext cx="1101943" cy="281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08655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5"/>
          <p:cNvSpPr/>
          <p:nvPr userDrawn="1"/>
        </p:nvSpPr>
        <p:spPr>
          <a:xfrm>
            <a:off x="0" y="6489340"/>
            <a:ext cx="9143999" cy="36866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7000"/>
                  <a:lumOff val="13000"/>
                  <a:alpha val="35000"/>
                </a:schemeClr>
              </a:gs>
              <a:gs pos="0">
                <a:schemeClr val="accent1">
                  <a:alpha val="30000"/>
                  <a:lumMod val="55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1"/>
            <a:ext cx="9144000" cy="728698"/>
          </a:xfrm>
          <a:prstGeom prst="rect">
            <a:avLst/>
          </a:prstGeom>
          <a:solidFill>
            <a:srgbClr val="0032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평행 사변형 5"/>
          <p:cNvSpPr/>
          <p:nvPr userDrawn="1"/>
        </p:nvSpPr>
        <p:spPr>
          <a:xfrm rot="10800000">
            <a:off x="142190" y="-3"/>
            <a:ext cx="578985" cy="991991"/>
          </a:xfrm>
          <a:prstGeom prst="parallelogram">
            <a:avLst>
              <a:gd name="adj" fmla="val 500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431540" cy="967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평행 사변형 7"/>
          <p:cNvSpPr/>
          <p:nvPr userDrawn="1"/>
        </p:nvSpPr>
        <p:spPr>
          <a:xfrm rot="10800000">
            <a:off x="71500" y="-3"/>
            <a:ext cx="578985" cy="991991"/>
          </a:xfrm>
          <a:prstGeom prst="parallelogram">
            <a:avLst>
              <a:gd name="adj" fmla="val 500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Picture 2" descr="C:\Users\jh429.baek\Desktop\봉투(vip)_40%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18" t="28545" r="21553" b="47130"/>
          <a:stretch/>
        </p:blipFill>
        <p:spPr bwMode="auto">
          <a:xfrm flipH="1">
            <a:off x="-1" y="-3154"/>
            <a:ext cx="566554" cy="731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 userDrawn="1"/>
        </p:nvSpPr>
        <p:spPr>
          <a:xfrm>
            <a:off x="7947375" y="42197"/>
            <a:ext cx="1125125" cy="2814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3598" y="-3154"/>
            <a:ext cx="8430402" cy="731853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45752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6399331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0" y="6399330"/>
            <a:ext cx="9144000" cy="458670"/>
          </a:xfrm>
          <a:prstGeom prst="rect">
            <a:avLst/>
          </a:prstGeom>
          <a:solidFill>
            <a:srgbClr val="00326B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7992380" y="42197"/>
            <a:ext cx="1080120" cy="293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Confidential</a:t>
            </a:r>
            <a:endParaRPr lang="ko-KR" altLang="en-US" sz="12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1556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슬라이드 번호 개체 틀 3"/>
          <p:cNvSpPr txBox="1">
            <a:spLocks/>
          </p:cNvSpPr>
          <p:nvPr userDrawn="1"/>
        </p:nvSpPr>
        <p:spPr>
          <a:xfrm>
            <a:off x="7008777" y="6595763"/>
            <a:ext cx="2057400" cy="27511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SLI 파트너 M" panose="02020603020101020101" pitchFamily="18" charset="-127"/>
                <a:ea typeface="SLI 파트너 M" panose="02020603020101020101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삼성생명 기업컨설팅센터  </a:t>
            </a:r>
            <a:fld id="{45E4F50E-807B-4D45-8FDB-3889098A9BF8}" type="slidenum">
              <a:rPr kumimoji="0" lang="ko-KR" alt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/>
              <a:t>‹#›</a:t>
            </a:fld>
            <a:r>
              <a:rPr kumimoji="0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70</a:t>
            </a:r>
            <a:endParaRPr kumimoji="0"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36" r:id="rId2"/>
    <p:sldLayoutId id="2147483956" r:id="rId3"/>
    <p:sldLayoutId id="2147483957" r:id="rId4"/>
    <p:sldLayoutId id="2147483953" r:id="rId5"/>
  </p:sldLayoutIdLst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kern="1200" spc="-70">
          <a:gradFill>
            <a:gsLst>
              <a:gs pos="0">
                <a:srgbClr val="1041A4"/>
              </a:gs>
              <a:gs pos="100000">
                <a:srgbClr val="1041A4"/>
              </a:gs>
            </a:gsLst>
            <a:lin ang="5400000" scaled="0"/>
          </a:gradFill>
          <a:latin typeface="SLI 파트너 B" pitchFamily="18" charset="-127"/>
          <a:ea typeface="SLI 파트너 B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SLI 파트너 B" pitchFamily="18" charset="-127"/>
          <a:ea typeface="SLI 파트너 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4136492" y="4284095"/>
            <a:ext cx="2865777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LI 파트너 B" pitchFamily="18" charset="-127"/>
                <a:ea typeface="SLI 파트너 B" pitchFamily="18" charset="-127"/>
              </a:rPr>
              <a:t>        2025. 8.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1631" y="2483895"/>
            <a:ext cx="7902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ko-KR" altLang="en-US" sz="3600" spc="-150" dirty="0">
                <a:ln>
                  <a:solidFill>
                    <a:srgbClr val="00326B">
                      <a:alpha val="10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HYGothic-Extra" panose="02030600000101010101" pitchFamily="18" charset="-127"/>
                <a:ea typeface="HYGothic-Extra" panose="02030600000101010101" pitchFamily="18" charset="-127"/>
              </a:rPr>
              <a:t>자금조달 혁신 방안</a:t>
            </a:r>
            <a:endParaRPr lang="en-US" altLang="ko-KR" sz="3600" spc="-150" dirty="0">
              <a:ln>
                <a:solidFill>
                  <a:srgbClr val="00326B">
                    <a:alpha val="10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HYGothic-Extra" panose="02030600000101010101" pitchFamily="18" charset="-127"/>
              <a:ea typeface="HYGothic-Extra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33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0771" y="1268760"/>
            <a:ext cx="3111139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r>
              <a:rPr kumimoji="0" lang="ko-KR" altLang="en-US" sz="5500" dirty="0">
                <a:ln>
                  <a:solidFill>
                    <a:srgbClr val="00326B">
                      <a:alpha val="15000"/>
                    </a:srgbClr>
                  </a:solidFill>
                </a:ln>
                <a:solidFill>
                  <a:srgbClr val="00326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목 차</a:t>
            </a:r>
            <a:endParaRPr kumimoji="0" lang="en-US" sz="5500" dirty="0">
              <a:ln>
                <a:solidFill>
                  <a:srgbClr val="00326B">
                    <a:alpha val="15000"/>
                  </a:srgbClr>
                </a:solidFill>
              </a:ln>
              <a:solidFill>
                <a:srgbClr val="00326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45" name="그룹 34"/>
          <p:cNvGrpSpPr>
            <a:grpSpLocks/>
          </p:cNvGrpSpPr>
          <p:nvPr/>
        </p:nvGrpSpPr>
        <p:grpSpPr bwMode="auto">
          <a:xfrm>
            <a:off x="656565" y="3789040"/>
            <a:ext cx="6075674" cy="523221"/>
            <a:chOff x="1072945" y="2767085"/>
            <a:chExt cx="6075519" cy="523559"/>
          </a:xfrm>
          <a:noFill/>
        </p:grpSpPr>
        <p:sp>
          <p:nvSpPr>
            <p:cNvPr id="46" name="TextBox 45"/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02.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혁신적 대안</a:t>
              </a:r>
            </a:p>
          </p:txBody>
        </p:sp>
      </p:grpSp>
      <p:grpSp>
        <p:nvGrpSpPr>
          <p:cNvPr id="13" name="그룹 34"/>
          <p:cNvGrpSpPr>
            <a:grpSpLocks/>
          </p:cNvGrpSpPr>
          <p:nvPr/>
        </p:nvGrpSpPr>
        <p:grpSpPr bwMode="auto">
          <a:xfrm>
            <a:off x="656565" y="4554125"/>
            <a:ext cx="6075674" cy="523221"/>
            <a:chOff x="1072945" y="2767085"/>
            <a:chExt cx="6075519" cy="523559"/>
          </a:xfrm>
          <a:noFill/>
        </p:grpSpPr>
        <p:sp>
          <p:nvSpPr>
            <p:cNvPr id="14" name="TextBox 13"/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03.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확실한 근거</a:t>
              </a:r>
            </a:p>
          </p:txBody>
        </p:sp>
      </p:grpSp>
      <p:grpSp>
        <p:nvGrpSpPr>
          <p:cNvPr id="5" name="그룹 34">
            <a:extLst>
              <a:ext uri="{FF2B5EF4-FFF2-40B4-BE49-F238E27FC236}">
                <a16:creationId xmlns:a16="http://schemas.microsoft.com/office/drawing/2014/main" id="{0886B225-BCEC-37EF-5743-FA8E67A844A2}"/>
              </a:ext>
            </a:extLst>
          </p:cNvPr>
          <p:cNvGrpSpPr>
            <a:grpSpLocks/>
          </p:cNvGrpSpPr>
          <p:nvPr/>
        </p:nvGrpSpPr>
        <p:grpSpPr bwMode="auto">
          <a:xfrm>
            <a:off x="656565" y="3012350"/>
            <a:ext cx="6075674" cy="523221"/>
            <a:chOff x="1072945" y="2767085"/>
            <a:chExt cx="6075519" cy="523559"/>
          </a:xfrm>
          <a:noFill/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B3F6D4-E860-C205-516B-F093F10D0578}"/>
                </a:ext>
              </a:extLst>
            </p:cNvPr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01.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5B69AF-67C5-A8B9-E321-133E42BC1911}"/>
                </a:ext>
              </a:extLst>
            </p:cNvPr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Gothic-Extra" panose="02030600000101010101" pitchFamily="18" charset="-127"/>
                  <a:ea typeface="HYGothic-Extra" panose="02030600000101010101" pitchFamily="18" charset="-127"/>
                  <a:cs typeface="Noto Sans ExtBd" panose="020B0502040504020204" pitchFamily="34" charset="0"/>
                </a:rPr>
                <a:t>  충격적인 현실</a:t>
              </a:r>
            </a:p>
          </p:txBody>
        </p:sp>
      </p:grpSp>
      <p:grpSp>
        <p:nvGrpSpPr>
          <p:cNvPr id="3" name="그룹 34">
            <a:extLst>
              <a:ext uri="{FF2B5EF4-FFF2-40B4-BE49-F238E27FC236}">
                <a16:creationId xmlns:a16="http://schemas.microsoft.com/office/drawing/2014/main" id="{6290827B-0CA9-B383-A77E-2BD6A57BA835}"/>
              </a:ext>
            </a:extLst>
          </p:cNvPr>
          <p:cNvGrpSpPr>
            <a:grpSpLocks/>
          </p:cNvGrpSpPr>
          <p:nvPr/>
        </p:nvGrpSpPr>
        <p:grpSpPr bwMode="auto">
          <a:xfrm>
            <a:off x="656565" y="5246039"/>
            <a:ext cx="6075674" cy="523221"/>
            <a:chOff x="1072945" y="2767085"/>
            <a:chExt cx="6075519" cy="523559"/>
          </a:xfrm>
          <a:noFill/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E6E0596-5138-9B32-2BAE-ECDF6819971F}"/>
                </a:ext>
              </a:extLst>
            </p:cNvPr>
            <p:cNvSpPr txBox="1"/>
            <p:nvPr/>
          </p:nvSpPr>
          <p:spPr>
            <a:xfrm>
              <a:off x="1072945" y="2767086"/>
              <a:ext cx="645788" cy="523558"/>
            </a:xfrm>
            <a:prstGeom prst="rect">
              <a:avLst/>
            </a:prstGeom>
            <a:grpFill/>
          </p:spPr>
          <p:txBody>
            <a:bodyPr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800" spc="-160" dirty="0">
                  <a:ln w="3175">
                    <a:solidFill>
                      <a:schemeClr val="accent1">
                        <a:alpha val="15000"/>
                      </a:schemeClr>
                    </a:solidFill>
                  </a:ln>
                  <a:solidFill>
                    <a:srgbClr val="969696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04.</a:t>
              </a:r>
              <a:endParaRPr kumimoji="0" lang="ko-KR" altLang="en-US" sz="2800" spc="-160" dirty="0">
                <a:ln w="3175">
                  <a:solidFill>
                    <a:schemeClr val="accent1">
                      <a:alpha val="15000"/>
                    </a:schemeClr>
                  </a:solidFill>
                </a:ln>
                <a:solidFill>
                  <a:srgbClr val="969696"/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BFDDFB-BAEE-DA94-7A82-CD89E3C6520C}"/>
                </a:ext>
              </a:extLst>
            </p:cNvPr>
            <p:cNvSpPr txBox="1"/>
            <p:nvPr/>
          </p:nvSpPr>
          <p:spPr>
            <a:xfrm>
              <a:off x="1583668" y="2767085"/>
              <a:ext cx="5564796" cy="52355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2800" spc="-50" dirty="0">
                  <a:ln>
                    <a:solidFill>
                      <a:srgbClr val="808080">
                        <a:alpha val="15000"/>
                      </a:srgb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  지금 시작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659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충격적인 현실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2246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🥵 충격적인 현실</a:t>
            </a:r>
          </a:p>
        </p:txBody>
      </p:sp>
      <p:sp>
        <p:nvSpPr>
          <p:cNvPr id="18" name="모서리가 둥근 직사각형 17"/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“</a:t>
            </a:r>
            <a:r>
              <a:rPr lang="ko-KR" altLang="en-US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대표님이 몰랐던 잔혹한 진실</a:t>
            </a:r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”</a:t>
            </a:r>
            <a:endParaRPr lang="en-US" altLang="ko-KR" sz="1400" dirty="0">
              <a:latin typeface="HYGothic-Extra" panose="02030600000101010101" pitchFamily="18" charset="-127"/>
              <a:ea typeface="HYGothic-Extra" panose="02030600000101010101" pitchFamily="18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09500"/>
              </p:ext>
            </p:extLst>
          </p:nvPr>
        </p:nvGraphicFramePr>
        <p:xfrm>
          <a:off x="439853" y="1358771"/>
          <a:ext cx="8271894" cy="304384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135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6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kern="1200" spc="0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현재 개별 자금 조달의 한계</a:t>
                      </a:r>
                      <a:endParaRPr kumimoji="0" lang="ko-KR" altLang="en-US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업계 공통 고민사항</a:t>
                      </a:r>
                    </a:p>
                  </a:txBody>
                  <a:tcPr marT="45706" marB="45706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6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lvl="0" indent="0" latinLnBrk="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</a:t>
                      </a:r>
                      <a:r>
                        <a:rPr kumimoji="0" lang="ko-KR" altLang="en-US" sz="1600" b="1" kern="1200" spc="0" dirty="0" err="1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지디카</a:t>
                      </a: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대표님 혼자 하실 때 </a:t>
                      </a:r>
                      <a:r>
                        <a:rPr kumimoji="0" lang="en-US" altLang="ko-KR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(150</a:t>
                      </a:r>
                      <a:r>
                        <a:rPr kumimoji="0" lang="ko-KR" altLang="en-US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규모</a:t>
                      </a:r>
                      <a:r>
                        <a:rPr kumimoji="0" lang="en-US" altLang="ko-KR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200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단기자금 이자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연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4.5%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높은 비용 부담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장기자금 이자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연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5.5%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경쟁력 저하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신용등급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BB+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보통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연간이자비용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8.25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막대한 손실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T="45706" marB="45706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은행에서 </a:t>
                      </a:r>
                      <a:r>
                        <a:rPr lang="ko-KR" altLang="en-US" sz="1600" b="1" kern="1200" spc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돈빌리기가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점점 어려워진다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이자율이 높아서 수익이 </a:t>
                      </a:r>
                      <a:r>
                        <a:rPr lang="ko-KR" altLang="en-US" sz="1600" b="1" kern="1200" spc="0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안난다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담보요구사항이 너무 까다롭다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자금회전이 느려서 기회를 놓친다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”</a:t>
                      </a:r>
                    </a:p>
                  </a:txBody>
                  <a:tcPr marT="45706" marB="45706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2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현실의 잔혹한 숫자들</a:t>
                      </a:r>
                      <a:endParaRPr kumimoji="0" lang="en-US" altLang="ko-KR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혼자서는 한계가 있습니다</a:t>
                      </a: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하지만 함께 하면 모든 것이 달라집니다</a:t>
                      </a:r>
                      <a:r>
                        <a:rPr kumimoji="0" lang="en-US" altLang="ko-KR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”</a:t>
                      </a: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그룹 25"/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8" name="타원 27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9" name="막힌 원호 28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/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/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2" name="타원 31"/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3" name="막힌 원호 32"/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103E43D-4F2F-E8F7-E08A-37C20C95B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5380000"/>
              </p:ext>
            </p:extLst>
          </p:nvPr>
        </p:nvGraphicFramePr>
        <p:xfrm>
          <a:off x="439853" y="4518604"/>
          <a:ext cx="8271893" cy="1655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8149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혁신적 대안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270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172D-2F56-AA01-BAFE-DBA3D8FA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C7D8F21-D5BB-1B21-2449-C2E34EFA811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🤩 혁신적 대안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8BE7A42-46BE-F9F0-5E5D-DEB146E8FB81}"/>
              </a:ext>
            </a:extLst>
          </p:cNvPr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“25</a:t>
            </a:r>
            <a:r>
              <a:rPr lang="ko-KR" altLang="en-US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개 업체가 뭉치면 이런 일이 일어납니다</a:t>
            </a:r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”</a:t>
            </a:r>
            <a:endParaRPr lang="en-US" altLang="ko-KR" sz="1400" dirty="0">
              <a:latin typeface="HYGothic-Extra" panose="02030600000101010101" pitchFamily="18" charset="-127"/>
              <a:ea typeface="HYGothic-Extra" panose="02030600000101010101" pitchFamily="18" charset="-127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3FFC237-0875-33FC-9FFB-4C7AA403F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084461"/>
              </p:ext>
            </p:extLst>
          </p:nvPr>
        </p:nvGraphicFramePr>
        <p:xfrm>
          <a:off x="439853" y="1358771"/>
          <a:ext cx="8271894" cy="318380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135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6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kern="1200" spc="0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✰ 연합체 </a:t>
                      </a:r>
                      <a:r>
                        <a:rPr kumimoji="0" lang="en-US" altLang="ko-KR" sz="1600" b="1" kern="1200" spc="0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ABS-ABCP </a:t>
                      </a:r>
                      <a:r>
                        <a:rPr kumimoji="0" lang="ko-KR" altLang="en-US" sz="1600" b="1" kern="1200" spc="0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모델의 혁신</a:t>
                      </a:r>
                      <a:endParaRPr kumimoji="0" lang="ko-KR" altLang="en-US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❗️규모의 경제 효과</a:t>
                      </a:r>
                    </a:p>
                  </a:txBody>
                  <a:tcPr marT="45706" marB="45706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66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lvl="0" indent="0" latinLnBrk="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</a:t>
                      </a:r>
                      <a:r>
                        <a:rPr kumimoji="0" lang="en-US" altLang="ko-KR" sz="16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25</a:t>
                      </a:r>
                      <a:r>
                        <a:rPr kumimoji="0" lang="ko-KR" altLang="en-US" sz="16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 업체 연합 </a:t>
                      </a:r>
                      <a:r>
                        <a:rPr kumimoji="0" lang="en-US" altLang="ko-KR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(1500</a:t>
                      </a:r>
                      <a:r>
                        <a:rPr kumimoji="0" lang="ko-KR" altLang="en-US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규모</a:t>
                      </a:r>
                      <a:r>
                        <a:rPr kumimoji="0" lang="en-US" altLang="ko-KR" sz="1200" b="1" kern="1200" spc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US" altLang="ko-KR" sz="1200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단기자금 이자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연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4.3%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(-0.2%p 👉 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이자 절약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장기자금 이자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연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5.3%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((-0.2%p 👉 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경쟁력 확보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신용등급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AA-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우수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👉 2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 상승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4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연간이자비용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78.5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(30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절약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263525" marR="0" lvl="0" indent="-263525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•</a:t>
                      </a:r>
                      <a:r>
                        <a:rPr lang="ko-KR" altLang="en-US" sz="1600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투자자 선택권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 확대 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선택의 폭</a:t>
                      </a:r>
                      <a:r>
                        <a:rPr lang="en-US" altLang="ko-KR" sz="12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T="45706" marB="45706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indent="0" fontAlgn="base" latinLnBrk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2,000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자산으로 신용도 최고등급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위험분산으로 안전성 확보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대형 투자자들과 직접 거래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■  협상력 </a:t>
                      </a:r>
                      <a:r>
                        <a:rPr lang="en-US" altLang="ko-KR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600" b="1" kern="1200" spc="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 향상 및 시장 지배력 확보</a:t>
                      </a:r>
                      <a:endParaRPr lang="en-US" altLang="ko-KR" sz="1600" b="1" kern="1200" spc="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T="45706" marB="45706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2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Times"/>
                          <a:ea typeface=""/>
                          <a:cs typeface="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자금 조달 구조</a:t>
                      </a:r>
                      <a:endParaRPr kumimoji="0" lang="en-US" altLang="ko-KR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600" b="1" i="0" u="none" strike="noStrike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“</a:t>
                      </a:r>
                      <a:r>
                        <a:rPr kumimoji="0" lang="ko-KR" altLang="en-US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함께 하면 더 강하고 더 저렴하고 더 </a:t>
                      </a:r>
                      <a:r>
                        <a:rPr kumimoji="0" lang="ko-KR" altLang="en-US" sz="1600" b="1" i="0" u="none" strike="noStrike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안전해집니다</a:t>
                      </a:r>
                      <a:r>
                        <a:rPr kumimoji="0" lang="en-US" altLang="ko-KR" sz="16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!”</a:t>
                      </a:r>
                    </a:p>
                  </a:txBody>
                  <a:tcPr marT="45706" marB="45706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6" name="그룹 25">
            <a:extLst>
              <a:ext uri="{FF2B5EF4-FFF2-40B4-BE49-F238E27FC236}">
                <a16:creationId xmlns:a16="http://schemas.microsoft.com/office/drawing/2014/main" id="{D7F3832B-166C-D298-1047-DC5C11E79FA6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491C20D7-DC2A-5284-A1A2-6D4A660E33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1C66AF71-720E-C5BB-3A64-5B0E4FA6C6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9" name="막힌 원호 28">
              <a:extLst>
                <a:ext uri="{FF2B5EF4-FFF2-40B4-BE49-F238E27FC236}">
                  <a16:creationId xmlns:a16="http://schemas.microsoft.com/office/drawing/2014/main" id="{71946327-A72C-783B-255D-4CE6E6061F02}"/>
                </a:ext>
              </a:extLst>
            </p:cNvPr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0C86667-C0B7-F747-BAAE-C57D2180505B}"/>
              </a:ext>
            </a:extLst>
          </p:cNvPr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0A7D99F-BABA-AA19-9C55-48505B96596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EA95BDAA-97A1-4651-24D9-DEC875D5DCD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3" name="막힌 원호 32">
              <a:extLst>
                <a:ext uri="{FF2B5EF4-FFF2-40B4-BE49-F238E27FC236}">
                  <a16:creationId xmlns:a16="http://schemas.microsoft.com/office/drawing/2014/main" id="{4046057C-3DBB-3257-4BE8-8E853CD458D6}"/>
                </a:ext>
              </a:extLst>
            </p:cNvPr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F9E0EE0-34B9-D58B-0592-1EDA9E8444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8352926"/>
              </p:ext>
            </p:extLst>
          </p:nvPr>
        </p:nvGraphicFramePr>
        <p:xfrm>
          <a:off x="439853" y="4518604"/>
          <a:ext cx="8271893" cy="1655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8499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확실한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315" y="2213865"/>
            <a:ext cx="1515158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202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4113-3D16-C179-3330-94B84E4D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6873E20-79CC-7346-F36E-B763500D20A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🤩 확실한 근거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59E25F1-EBD5-41C1-C2DD-362571D538A1}"/>
              </a:ext>
            </a:extLst>
          </p:cNvPr>
          <p:cNvSpPr/>
          <p:nvPr/>
        </p:nvSpPr>
        <p:spPr bwMode="auto">
          <a:xfrm>
            <a:off x="439853" y="863715"/>
            <a:ext cx="8271893" cy="37906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“</a:t>
            </a:r>
            <a:r>
              <a:rPr lang="ko-KR" altLang="en-US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숫자가 증명하는 압도적 효과</a:t>
            </a:r>
            <a:r>
              <a:rPr lang="en-US" altLang="ko-KR" sz="1400" b="1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”</a:t>
            </a:r>
            <a:endParaRPr lang="en-US" altLang="ko-KR" sz="1400" dirty="0">
              <a:latin typeface="HYGothic-Extra" panose="02030600000101010101" pitchFamily="18" charset="-127"/>
              <a:ea typeface="HYGothic-Extra" panose="02030600000101010101" pitchFamily="18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22BF5E6-9484-D090-2F52-8350596B1FBF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495945" y="1107241"/>
            <a:ext cx="185453" cy="386777"/>
            <a:chOff x="-540568" y="1225954"/>
            <a:chExt cx="288032" cy="60071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F8D7537-A9BD-D1AB-096A-02F4EC31471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7E72D16-0BC5-270C-C5C0-B7C0C1CF0D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29" name="막힌 원호 28">
              <a:extLst>
                <a:ext uri="{FF2B5EF4-FFF2-40B4-BE49-F238E27FC236}">
                  <a16:creationId xmlns:a16="http://schemas.microsoft.com/office/drawing/2014/main" id="{C24E6AE1-8F6F-AFF5-085E-1396F539F236}"/>
                </a:ext>
              </a:extLst>
            </p:cNvPr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FCBB69E-D496-9419-FEAE-D43AE4B0BE1F}"/>
              </a:ext>
            </a:extLst>
          </p:cNvPr>
          <p:cNvGrpSpPr>
            <a:grpSpLocks noChangeAspect="1"/>
          </p:cNvGrpSpPr>
          <p:nvPr/>
        </p:nvGrpSpPr>
        <p:grpSpPr>
          <a:xfrm>
            <a:off x="8478554" y="1107241"/>
            <a:ext cx="185453" cy="386777"/>
            <a:chOff x="-540568" y="1225954"/>
            <a:chExt cx="288032" cy="60071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0EB44E8-5901-AE49-35BB-6168E9DFBF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664670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1E25966-7831-E2B8-98A5-6D9ABE85505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-468562" y="1225954"/>
              <a:ext cx="162000" cy="16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</a:ln>
            <a:effectLst>
              <a:innerShdw blurRad="190500" dist="76200" dir="13500000">
                <a:prstClr val="black">
                  <a:alpha val="87000"/>
                </a:prstClr>
              </a:innerShdw>
            </a:effectLst>
          </p:spPr>
          <p:txBody>
            <a:bodyPr anchor="ctr"/>
            <a:lstStyle/>
            <a:p>
              <a:pPr algn="ctr" latinLnBrk="0">
                <a:defRPr/>
              </a:pPr>
              <a:endParaRPr lang="ko-KR" altLang="en-US" sz="1600" kern="0" dirty="0">
                <a:solidFill>
                  <a:sysClr val="windowText" lastClr="000000"/>
                </a:solidFill>
                <a:latin typeface="SLI 파트너 B" pitchFamily="18" charset="-127"/>
                <a:ea typeface="SLI 파트너 B" pitchFamily="18" charset="-127"/>
              </a:endParaRPr>
            </a:p>
          </p:txBody>
        </p:sp>
        <p:sp>
          <p:nvSpPr>
            <p:cNvPr id="33" name="막힌 원호 32">
              <a:extLst>
                <a:ext uri="{FF2B5EF4-FFF2-40B4-BE49-F238E27FC236}">
                  <a16:creationId xmlns:a16="http://schemas.microsoft.com/office/drawing/2014/main" id="{5FCF6D6F-CDED-4A1B-D900-6CCBD68987AA}"/>
                </a:ext>
              </a:extLst>
            </p:cNvPr>
            <p:cNvSpPr/>
            <p:nvPr/>
          </p:nvSpPr>
          <p:spPr>
            <a:xfrm rot="5400000">
              <a:off x="-634734" y="1382296"/>
              <a:ext cx="476364" cy="288032"/>
            </a:xfrm>
            <a:prstGeom prst="blockArc">
              <a:avLst>
                <a:gd name="adj1" fmla="val 10742359"/>
                <a:gd name="adj2" fmla="val 339722"/>
                <a:gd name="adj3" fmla="val 18761"/>
              </a:avLst>
            </a:prstGeom>
            <a:solidFill>
              <a:srgbClr val="D9D9D9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65F447-F6A4-45FA-DBB6-A09DFE7B05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04031"/>
              </p:ext>
            </p:extLst>
          </p:nvPr>
        </p:nvGraphicFramePr>
        <p:xfrm>
          <a:off x="439853" y="1397001"/>
          <a:ext cx="8271895" cy="22570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54379">
                  <a:extLst>
                    <a:ext uri="{9D8B030D-6E8A-4147-A177-3AD203B41FA5}">
                      <a16:colId xmlns:a16="http://schemas.microsoft.com/office/drawing/2014/main" val="3329290856"/>
                    </a:ext>
                  </a:extLst>
                </a:gridCol>
                <a:gridCol w="1654379">
                  <a:extLst>
                    <a:ext uri="{9D8B030D-6E8A-4147-A177-3AD203B41FA5}">
                      <a16:colId xmlns:a16="http://schemas.microsoft.com/office/drawing/2014/main" val="1893404948"/>
                    </a:ext>
                  </a:extLst>
                </a:gridCol>
                <a:gridCol w="1654379">
                  <a:extLst>
                    <a:ext uri="{9D8B030D-6E8A-4147-A177-3AD203B41FA5}">
                      <a16:colId xmlns:a16="http://schemas.microsoft.com/office/drawing/2014/main" val="1361970315"/>
                    </a:ext>
                  </a:extLst>
                </a:gridCol>
                <a:gridCol w="1654379">
                  <a:extLst>
                    <a:ext uri="{9D8B030D-6E8A-4147-A177-3AD203B41FA5}">
                      <a16:colId xmlns:a16="http://schemas.microsoft.com/office/drawing/2014/main" val="1744115757"/>
                    </a:ext>
                  </a:extLst>
                </a:gridCol>
                <a:gridCol w="1654379">
                  <a:extLst>
                    <a:ext uri="{9D8B030D-6E8A-4147-A177-3AD203B41FA5}">
                      <a16:colId xmlns:a16="http://schemas.microsoft.com/office/drawing/2014/main" val="3472714169"/>
                    </a:ext>
                  </a:extLst>
                </a:gridCol>
              </a:tblGrid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  <a:endParaRPr lang="en-KR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혼자 </a:t>
                      </a:r>
                      <a:r>
                        <a:rPr lang="ko-KR" altLang="en-US" sz="14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할때</a:t>
                      </a:r>
                      <a:endParaRPr lang="en-KR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함께 </a:t>
                      </a:r>
                      <a:r>
                        <a:rPr lang="ko-KR" altLang="en-US" sz="14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할때</a:t>
                      </a:r>
                      <a:endParaRPr lang="en-KR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절약 효과</a:t>
                      </a:r>
                      <a:endParaRPr lang="en-KR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업체당 </a:t>
                      </a:r>
                      <a:r>
                        <a:rPr lang="ko-KR" altLang="en-US" sz="14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절약액</a:t>
                      </a:r>
                      <a:endParaRPr lang="en-KR" sz="1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1996620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단기금리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4.5%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4.3%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0.2%p ⥥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 </a:t>
                      </a:r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500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4166512630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장기금리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5.5%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5.3%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0.2%p ⥥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 </a:t>
                      </a:r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700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369142711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신용등급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BB+ (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보통</a:t>
                      </a:r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AA- (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우수</a:t>
                      </a:r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 ⥣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신뢰도 향상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547430925"/>
                  </a:ext>
                </a:extLst>
              </a:tr>
              <a:tr h="45140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연간이자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8.25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78.5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 절약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1.2</a:t>
                      </a:r>
                      <a:r>
                        <a:rPr lang="ko-KR" altLang="en-US" sz="1400" b="1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억원</a:t>
                      </a:r>
                      <a:endParaRPr lang="en-KR" sz="1400" b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18728316"/>
                  </a:ext>
                </a:extLst>
              </a:tr>
            </a:tbl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F3EDECE7-88F8-2A6E-4788-8D9598F160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7919369"/>
              </p:ext>
            </p:extLst>
          </p:nvPr>
        </p:nvGraphicFramePr>
        <p:xfrm>
          <a:off x="439853" y="3808244"/>
          <a:ext cx="8271893" cy="2636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934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2B3D-6128-87ED-D68E-D6ECD6FD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BF91111-C744-464A-3859-F0F4D24D09EE}"/>
              </a:ext>
            </a:extLst>
          </p:cNvPr>
          <p:cNvSpPr txBox="1">
            <a:spLocks/>
          </p:cNvSpPr>
          <p:nvPr/>
        </p:nvSpPr>
        <p:spPr>
          <a:xfrm>
            <a:off x="0" y="3789195"/>
            <a:ext cx="5797550" cy="809625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 kern="1200" spc="-70">
                <a:gradFill>
                  <a:gsLst>
                    <a:gs pos="0">
                      <a:srgbClr val="1041A4"/>
                    </a:gs>
                    <a:gs pos="100000">
                      <a:srgbClr val="1041A4"/>
                    </a:gs>
                  </a:gsLst>
                  <a:lin ang="5400000" scaled="0"/>
                </a:gradFill>
                <a:latin typeface="SLI 파트너 B" pitchFamily="18" charset="-127"/>
                <a:ea typeface="SLI 파트너 B" pitchFamily="18" charset="-127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SLI 파트너 B" pitchFamily="18" charset="-127"/>
                <a:ea typeface="SLI 파트너 B" pitchFamily="18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000" spc="0" dirty="0">
                <a:ln>
                  <a:solidFill>
                    <a:srgbClr val="808080">
                      <a:alpha val="15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지금 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9EA4E-FD6B-6639-A99C-25502FB13E74}"/>
              </a:ext>
            </a:extLst>
          </p:cNvPr>
          <p:cNvSpPr txBox="1"/>
          <p:nvPr/>
        </p:nvSpPr>
        <p:spPr>
          <a:xfrm>
            <a:off x="2082225" y="2213865"/>
            <a:ext cx="1611339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9600" b="1" dirty="0">
                <a:ln w="3175">
                  <a:solidFill>
                    <a:srgbClr val="808080">
                      <a:alpha val="15000"/>
                    </a:srgbClr>
                  </a:solidFill>
                </a:ln>
                <a:solidFill>
                  <a:srgbClr val="969696"/>
                </a:solidFill>
                <a:latin typeface="SLI 파트너 EB" panose="02020603020101020101" pitchFamily="18" charset="-127"/>
                <a:ea typeface="SLI 파트너 EB" panose="02020603020101020101" pitchFamily="18" charset="-127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03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8409-65A1-9D77-7692-3826C1D04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핵심 구조</a:t>
            </a:r>
            <a:endParaRPr lang="en-KR" dirty="0">
              <a:latin typeface="HYGothic-Extra" panose="02030600000101010101" pitchFamily="18" charset="-127"/>
              <a:ea typeface="HYGothic-Extra" panose="02030600000101010101" pitchFamily="18" charset="-12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9D95FE-FE7E-CAEA-8CEA-121FFA403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08544" y="728699"/>
            <a:ext cx="9761088" cy="549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2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4E59-A3AC-6C77-DCE8-5A41C6644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Gothic-Extra" panose="02030600000101010101" pitchFamily="18" charset="-127"/>
                <a:ea typeface="HYGothic-Extra" panose="02030600000101010101" pitchFamily="18" charset="-127"/>
              </a:rPr>
              <a:t>핵심 요약</a:t>
            </a:r>
            <a:endParaRPr lang="en-KR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DA452EE-4FC3-10CD-0EFA-E22453453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8530" y="728699"/>
            <a:ext cx="9521060" cy="535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1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649726" y="2530996"/>
            <a:ext cx="582723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6000" b="1" i="1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바탕" pitchFamily="18" charset="-127"/>
              </a:rPr>
              <a:t>End of Document</a:t>
            </a:r>
          </a:p>
        </p:txBody>
      </p:sp>
    </p:spTree>
    <p:extLst>
      <p:ext uri="{BB962C8B-B14F-4D97-AF65-F5344CB8AC3E}">
        <p14:creationId xmlns:p14="http://schemas.microsoft.com/office/powerpoint/2010/main" val="275662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SLI 파트너 M"/>
        <a:ea typeface="SLI 파트너 M"/>
        <a:cs typeface=""/>
      </a:majorFont>
      <a:minorFont>
        <a:latin typeface="SLI 파트너 M"/>
        <a:ea typeface="SLI 파트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C4DA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5 세제개편안 자료_WM제작" id="{DBB87B2A-F4AB-A242-9356-94141FC32434}" vid="{44697938-F0B1-814D-B75A-246A757A24E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41376</TotalTime>
  <Words>453</Words>
  <Application>Microsoft Macintosh PowerPoint</Application>
  <PresentationFormat>On-screen Show (4:3)</PresentationFormat>
  <Paragraphs>121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HY견고딕</vt:lpstr>
      <vt:lpstr>Times New Roman</vt:lpstr>
      <vt:lpstr>HY견고딕</vt:lpstr>
      <vt:lpstr>굴림</vt:lpstr>
      <vt:lpstr>Pretendard</vt:lpstr>
      <vt:lpstr>SLI 파트너 EB</vt:lpstr>
      <vt:lpstr>Wingdings</vt:lpstr>
      <vt:lpstr>맑은 고딕</vt:lpstr>
      <vt:lpstr>SLI 파트너 B</vt:lpstr>
      <vt:lpstr>Arial</vt:lpstr>
      <vt:lpstr>Office 테마</vt:lpstr>
      <vt:lpstr>PowerPoint Presentation</vt:lpstr>
      <vt:lpstr>PowerPoint Presentation</vt:lpstr>
      <vt:lpstr>PowerPoint Presentation</vt:lpstr>
      <vt:lpstr>🥵 충격적인 현실</vt:lpstr>
      <vt:lpstr>PowerPoint Presentation</vt:lpstr>
      <vt:lpstr>🤩 혁신적 대안</vt:lpstr>
      <vt:lpstr>PowerPoint Presentation</vt:lpstr>
      <vt:lpstr>🤩 확실한 근거</vt:lpstr>
      <vt:lpstr>PowerPoint Presentation</vt:lpstr>
      <vt:lpstr>핵심 구조</vt:lpstr>
      <vt:lpstr>핵심 요약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DWKIM</dc:creator>
  <cp:lastModifiedBy>재홍 임</cp:lastModifiedBy>
  <cp:revision>2827</cp:revision>
  <cp:lastPrinted>2025-08-08T01:58:42Z</cp:lastPrinted>
  <dcterms:created xsi:type="dcterms:W3CDTF">2012-05-04T09:37:40Z</dcterms:created>
  <dcterms:modified xsi:type="dcterms:W3CDTF">2025-08-17T14:40:39Z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D5E041ABAC1D743025090231571F8D3BE7A9F89141CA8ED766AA10F07B8A9E98</vt:lpwstr>
  </property>
  <property fmtid="{D5CDD505-2E9C-101B-9397-08002B2CF9AE}" pid="2" name="NSCPROP">
    <vt:lpwstr>NSCCustomProperty</vt:lpwstr>
  </property>
</Properties>
</file>